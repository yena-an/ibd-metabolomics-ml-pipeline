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7D8D"/>
    <a:srgbClr val="FFFFFF"/>
    <a:srgbClr val="EBBE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1E6477-319E-4BFF-8E08-BAE7A6804071}" v="1817" dt="2024-05-29T14:34:53.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96" autoAdjust="0"/>
    <p:restoredTop sz="95033" autoAdjust="0"/>
  </p:normalViewPr>
  <p:slideViewPr>
    <p:cSldViewPr snapToGrid="0" showGuides="1">
      <p:cViewPr varScale="1">
        <p:scale>
          <a:sx n="79" d="100"/>
          <a:sy n="79"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 Yena" userId="530c2f29-5598-4d14-acbc-af67efcc15d9" providerId="ADAL" clId="{501E6477-319E-4BFF-8E08-BAE7A6804071}"/>
    <pc:docChg chg="undo redo custSel modSld">
      <pc:chgData name="An, Yena" userId="530c2f29-5598-4d14-acbc-af67efcc15d9" providerId="ADAL" clId="{501E6477-319E-4BFF-8E08-BAE7A6804071}" dt="2024-05-29T14:34:53.492" v="5200" actId="113"/>
      <pc:docMkLst>
        <pc:docMk/>
      </pc:docMkLst>
      <pc:sldChg chg="modSp mod">
        <pc:chgData name="An, Yena" userId="530c2f29-5598-4d14-acbc-af67efcc15d9" providerId="ADAL" clId="{501E6477-319E-4BFF-8E08-BAE7A6804071}" dt="2024-05-29T13:22:19.094" v="5138" actId="20577"/>
        <pc:sldMkLst>
          <pc:docMk/>
          <pc:sldMk cId="1805135686" sldId="256"/>
        </pc:sldMkLst>
        <pc:spChg chg="mod">
          <ac:chgData name="An, Yena" userId="530c2f29-5598-4d14-acbc-af67efcc15d9" providerId="ADAL" clId="{501E6477-319E-4BFF-8E08-BAE7A6804071}" dt="2024-05-29T13:22:19.094" v="5138" actId="20577"/>
          <ac:spMkLst>
            <pc:docMk/>
            <pc:sldMk cId="1805135686" sldId="256"/>
            <ac:spMk id="3" creationId="{F93C79ED-B181-462D-A5D0-CA01A10A2F60}"/>
          </ac:spMkLst>
        </pc:spChg>
      </pc:sldChg>
      <pc:sldChg chg="addSp modSp mod modAnim">
        <pc:chgData name="An, Yena" userId="530c2f29-5598-4d14-acbc-af67efcc15d9" providerId="ADAL" clId="{501E6477-319E-4BFF-8E08-BAE7A6804071}" dt="2024-05-29T13:15:51.060" v="5057" actId="20577"/>
        <pc:sldMkLst>
          <pc:docMk/>
          <pc:sldMk cId="64450996" sldId="257"/>
        </pc:sldMkLst>
        <pc:spChg chg="add mod">
          <ac:chgData name="An, Yena" userId="530c2f29-5598-4d14-acbc-af67efcc15d9" providerId="ADAL" clId="{501E6477-319E-4BFF-8E08-BAE7A6804071}" dt="2024-05-28T13:02:54.131" v="802" actId="1076"/>
          <ac:spMkLst>
            <pc:docMk/>
            <pc:sldMk cId="64450996" sldId="257"/>
            <ac:spMk id="4" creationId="{99AD439E-2607-5BD6-51DA-1C1F23039DC0}"/>
          </ac:spMkLst>
        </pc:spChg>
        <pc:spChg chg="add mod">
          <ac:chgData name="An, Yena" userId="530c2f29-5598-4d14-acbc-af67efcc15d9" providerId="ADAL" clId="{501E6477-319E-4BFF-8E08-BAE7A6804071}" dt="2024-05-29T11:28:12.436" v="4553" actId="113"/>
          <ac:spMkLst>
            <pc:docMk/>
            <pc:sldMk cId="64450996" sldId="257"/>
            <ac:spMk id="5" creationId="{D6A5BBCD-2CF7-05A0-79E5-698C93725BB6}"/>
          </ac:spMkLst>
        </pc:spChg>
        <pc:spChg chg="mod">
          <ac:chgData name="An, Yena" userId="530c2f29-5598-4d14-acbc-af67efcc15d9" providerId="ADAL" clId="{501E6477-319E-4BFF-8E08-BAE7A6804071}" dt="2024-05-28T11:44:06.652" v="127" actId="1076"/>
          <ac:spMkLst>
            <pc:docMk/>
            <pc:sldMk cId="64450996" sldId="257"/>
            <ac:spMk id="10" creationId="{2D73F3D0-5151-4ED6-B5FD-C72501E7D39C}"/>
          </ac:spMkLst>
        </pc:spChg>
        <pc:spChg chg="mod">
          <ac:chgData name="An, Yena" userId="530c2f29-5598-4d14-acbc-af67efcc15d9" providerId="ADAL" clId="{501E6477-319E-4BFF-8E08-BAE7A6804071}" dt="2024-05-29T13:15:49.145" v="5055" actId="20577"/>
          <ac:spMkLst>
            <pc:docMk/>
            <pc:sldMk cId="64450996" sldId="257"/>
            <ac:spMk id="14" creationId="{5D24EC7C-3788-4270-90EA-7843D1FD018C}"/>
          </ac:spMkLst>
        </pc:spChg>
        <pc:spChg chg="mod">
          <ac:chgData name="An, Yena" userId="530c2f29-5598-4d14-acbc-af67efcc15d9" providerId="ADAL" clId="{501E6477-319E-4BFF-8E08-BAE7A6804071}" dt="2024-05-29T12:53:21.953" v="4892" actId="20577"/>
          <ac:spMkLst>
            <pc:docMk/>
            <pc:sldMk cId="64450996" sldId="257"/>
            <ac:spMk id="16" creationId="{E4AC9143-D2CC-F41D-67E3-87D15E9A9EA3}"/>
          </ac:spMkLst>
        </pc:spChg>
        <pc:spChg chg="add mod">
          <ac:chgData name="An, Yena" userId="530c2f29-5598-4d14-acbc-af67efcc15d9" providerId="ADAL" clId="{501E6477-319E-4BFF-8E08-BAE7A6804071}" dt="2024-05-29T11:20:13.893" v="4512" actId="1076"/>
          <ac:spMkLst>
            <pc:docMk/>
            <pc:sldMk cId="64450996" sldId="257"/>
            <ac:spMk id="17" creationId="{896F3CD6-B343-1348-283E-DC7F53AB0F9B}"/>
          </ac:spMkLst>
        </pc:spChg>
        <pc:spChg chg="mod">
          <ac:chgData name="An, Yena" userId="530c2f29-5598-4d14-acbc-af67efcc15d9" providerId="ADAL" clId="{501E6477-319E-4BFF-8E08-BAE7A6804071}" dt="2024-05-29T13:15:51.060" v="5057" actId="20577"/>
          <ac:spMkLst>
            <pc:docMk/>
            <pc:sldMk cId="64450996" sldId="257"/>
            <ac:spMk id="28" creationId="{C9EE5D6F-8E33-7E75-92B3-E1F807036C39}"/>
          </ac:spMkLst>
        </pc:spChg>
        <pc:spChg chg="mod">
          <ac:chgData name="An, Yena" userId="530c2f29-5598-4d14-acbc-af67efcc15d9" providerId="ADAL" clId="{501E6477-319E-4BFF-8E08-BAE7A6804071}" dt="2024-05-28T17:16:35.386" v="1476" actId="12788"/>
          <ac:spMkLst>
            <pc:docMk/>
            <pc:sldMk cId="64450996" sldId="257"/>
            <ac:spMk id="29" creationId="{00E97FFB-4B91-B88F-8F23-C3A40B6B965E}"/>
          </ac:spMkLst>
        </pc:spChg>
        <pc:spChg chg="mod">
          <ac:chgData name="An, Yena" userId="530c2f29-5598-4d14-acbc-af67efcc15d9" providerId="ADAL" clId="{501E6477-319E-4BFF-8E08-BAE7A6804071}" dt="2024-05-28T11:44:17.526" v="130" actId="164"/>
          <ac:spMkLst>
            <pc:docMk/>
            <pc:sldMk cId="64450996" sldId="257"/>
            <ac:spMk id="32" creationId="{9A3ABB2E-A8E3-3B90-5CA1-7228DD90CBB2}"/>
          </ac:spMkLst>
        </pc:spChg>
        <pc:spChg chg="mod">
          <ac:chgData name="An, Yena" userId="530c2f29-5598-4d14-acbc-af67efcc15d9" providerId="ADAL" clId="{501E6477-319E-4BFF-8E08-BAE7A6804071}" dt="2024-05-29T11:22:11.190" v="4521" actId="1076"/>
          <ac:spMkLst>
            <pc:docMk/>
            <pc:sldMk cId="64450996" sldId="257"/>
            <ac:spMk id="37" creationId="{D6F8CC2D-E327-82F0-0494-9548D728036D}"/>
          </ac:spMkLst>
        </pc:spChg>
        <pc:spChg chg="mod">
          <ac:chgData name="An, Yena" userId="530c2f29-5598-4d14-acbc-af67efcc15d9" providerId="ADAL" clId="{501E6477-319E-4BFF-8E08-BAE7A6804071}" dt="2024-05-28T17:16:35.386" v="1476" actId="12788"/>
          <ac:spMkLst>
            <pc:docMk/>
            <pc:sldMk cId="64450996" sldId="257"/>
            <ac:spMk id="38" creationId="{F7AB45D1-81F2-CEB7-2D63-A4DA2DDFFD55}"/>
          </ac:spMkLst>
        </pc:spChg>
        <pc:spChg chg="mod">
          <ac:chgData name="An, Yena" userId="530c2f29-5598-4d14-acbc-af67efcc15d9" providerId="ADAL" clId="{501E6477-319E-4BFF-8E08-BAE7A6804071}" dt="2024-05-28T11:44:17.526" v="130" actId="164"/>
          <ac:spMkLst>
            <pc:docMk/>
            <pc:sldMk cId="64450996" sldId="257"/>
            <ac:spMk id="43" creationId="{2DEBDB51-4F1A-EC31-AE7E-44C9620E3E54}"/>
          </ac:spMkLst>
        </pc:spChg>
        <pc:spChg chg="mod">
          <ac:chgData name="An, Yena" userId="530c2f29-5598-4d14-acbc-af67efcc15d9" providerId="ADAL" clId="{501E6477-319E-4BFF-8E08-BAE7A6804071}" dt="2024-05-29T11:22:11.190" v="4521" actId="1076"/>
          <ac:spMkLst>
            <pc:docMk/>
            <pc:sldMk cId="64450996" sldId="257"/>
            <ac:spMk id="57" creationId="{72BF6058-C22B-5DF3-FA61-7FACDCDCCB31}"/>
          </ac:spMkLst>
        </pc:spChg>
        <pc:grpChg chg="add mod">
          <ac:chgData name="An, Yena" userId="530c2f29-5598-4d14-acbc-af67efcc15d9" providerId="ADAL" clId="{501E6477-319E-4BFF-8E08-BAE7A6804071}" dt="2024-05-28T12:55:40.664" v="755" actId="164"/>
          <ac:grpSpMkLst>
            <pc:docMk/>
            <pc:sldMk cId="64450996" sldId="257"/>
            <ac:grpSpMk id="3" creationId="{4BF867C7-CD46-1138-8BF7-FFD73662B252}"/>
          </ac:grpSpMkLst>
        </pc:grpChg>
        <pc:grpChg chg="add mod">
          <ac:chgData name="An, Yena" userId="530c2f29-5598-4d14-acbc-af67efcc15d9" providerId="ADAL" clId="{501E6477-319E-4BFF-8E08-BAE7A6804071}" dt="2024-05-29T11:22:11.190" v="4521" actId="1076"/>
          <ac:grpSpMkLst>
            <pc:docMk/>
            <pc:sldMk cId="64450996" sldId="257"/>
            <ac:grpSpMk id="6" creationId="{381C2F57-2DC5-A255-72CF-E3291C46096D}"/>
          </ac:grpSpMkLst>
        </pc:grpChg>
        <pc:grpChg chg="add mod">
          <ac:chgData name="An, Yena" userId="530c2f29-5598-4d14-acbc-af67efcc15d9" providerId="ADAL" clId="{501E6477-319E-4BFF-8E08-BAE7A6804071}" dt="2024-05-28T17:16:35.386" v="1476" actId="12788"/>
          <ac:grpSpMkLst>
            <pc:docMk/>
            <pc:sldMk cId="64450996" sldId="257"/>
            <ac:grpSpMk id="7" creationId="{59DE489B-652C-D9C8-B7B4-10A1183714CB}"/>
          </ac:grpSpMkLst>
        </pc:grpChg>
        <pc:picChg chg="mod">
          <ac:chgData name="An, Yena" userId="530c2f29-5598-4d14-acbc-af67efcc15d9" providerId="ADAL" clId="{501E6477-319E-4BFF-8E08-BAE7A6804071}" dt="2024-05-28T12:55:33.700" v="754" actId="164"/>
          <ac:picMkLst>
            <pc:docMk/>
            <pc:sldMk cId="64450996" sldId="257"/>
            <ac:picMk id="25" creationId="{50A5AABA-0F4D-EFB8-DF9E-8232F2E58C0A}"/>
          </ac:picMkLst>
        </pc:picChg>
        <pc:picChg chg="mod modCrop">
          <ac:chgData name="An, Yena" userId="530c2f29-5598-4d14-acbc-af67efcc15d9" providerId="ADAL" clId="{501E6477-319E-4BFF-8E08-BAE7A6804071}" dt="2024-05-28T12:58:02.767" v="770" actId="732"/>
          <ac:picMkLst>
            <pc:docMk/>
            <pc:sldMk cId="64450996" sldId="257"/>
            <ac:picMk id="36" creationId="{6A26EB10-20A1-05C3-5D4E-B8CE3AD3597A}"/>
          </ac:picMkLst>
        </pc:picChg>
        <pc:picChg chg="mod">
          <ac:chgData name="An, Yena" userId="530c2f29-5598-4d14-acbc-af67efcc15d9" providerId="ADAL" clId="{501E6477-319E-4BFF-8E08-BAE7A6804071}" dt="2024-05-28T11:44:17.526" v="130" actId="164"/>
          <ac:picMkLst>
            <pc:docMk/>
            <pc:sldMk cId="64450996" sldId="257"/>
            <ac:picMk id="48" creationId="{255F2047-E3C0-98B7-5ACE-D73B39137619}"/>
          </ac:picMkLst>
        </pc:picChg>
        <pc:cxnChg chg="mod">
          <ac:chgData name="An, Yena" userId="530c2f29-5598-4d14-acbc-af67efcc15d9" providerId="ADAL" clId="{501E6477-319E-4BFF-8E08-BAE7A6804071}" dt="2024-05-28T11:44:17.526" v="130" actId="164"/>
          <ac:cxnSpMkLst>
            <pc:docMk/>
            <pc:sldMk cId="64450996" sldId="257"/>
            <ac:cxnSpMk id="40" creationId="{001416C9-1109-E41E-3BB7-BA2FA30A6614}"/>
          </ac:cxnSpMkLst>
        </pc:cxnChg>
        <pc:cxnChg chg="mod">
          <ac:chgData name="An, Yena" userId="530c2f29-5598-4d14-acbc-af67efcc15d9" providerId="ADAL" clId="{501E6477-319E-4BFF-8E08-BAE7A6804071}" dt="2024-05-28T11:44:17.526" v="130" actId="164"/>
          <ac:cxnSpMkLst>
            <pc:docMk/>
            <pc:sldMk cId="64450996" sldId="257"/>
            <ac:cxnSpMk id="41" creationId="{B781A2F7-B9D9-5336-B76A-52E805B2E5C8}"/>
          </ac:cxnSpMkLst>
        </pc:cxnChg>
      </pc:sldChg>
      <pc:sldChg chg="addSp delSp modSp mod delAnim modAnim">
        <pc:chgData name="An, Yena" userId="530c2f29-5598-4d14-acbc-af67efcc15d9" providerId="ADAL" clId="{501E6477-319E-4BFF-8E08-BAE7A6804071}" dt="2024-05-29T12:55:35.468" v="4901" actId="20577"/>
        <pc:sldMkLst>
          <pc:docMk/>
          <pc:sldMk cId="3418752260" sldId="258"/>
        </pc:sldMkLst>
        <pc:spChg chg="add mod">
          <ac:chgData name="An, Yena" userId="530c2f29-5598-4d14-acbc-af67efcc15d9" providerId="ADAL" clId="{501E6477-319E-4BFF-8E08-BAE7A6804071}" dt="2024-05-29T12:55:02.589" v="4893" actId="1076"/>
          <ac:spMkLst>
            <pc:docMk/>
            <pc:sldMk cId="3418752260" sldId="258"/>
            <ac:spMk id="3" creationId="{00362334-9742-484D-E329-DA00D54D2CFD}"/>
          </ac:spMkLst>
        </pc:spChg>
        <pc:spChg chg="add mod">
          <ac:chgData name="An, Yena" userId="530c2f29-5598-4d14-acbc-af67efcc15d9" providerId="ADAL" clId="{501E6477-319E-4BFF-8E08-BAE7A6804071}" dt="2024-05-29T10:57:01.275" v="4467" actId="20577"/>
          <ac:spMkLst>
            <pc:docMk/>
            <pc:sldMk cId="3418752260" sldId="258"/>
            <ac:spMk id="5" creationId="{8B4291FC-46A8-A407-4BCE-ECCA0487455C}"/>
          </ac:spMkLst>
        </pc:spChg>
        <pc:spChg chg="add mod">
          <ac:chgData name="An, Yena" userId="530c2f29-5598-4d14-acbc-af67efcc15d9" providerId="ADAL" clId="{501E6477-319E-4BFF-8E08-BAE7A6804071}" dt="2024-05-29T11:13:40.052" v="4474" actId="571"/>
          <ac:spMkLst>
            <pc:docMk/>
            <pc:sldMk cId="3418752260" sldId="258"/>
            <ac:spMk id="6" creationId="{8E7BE105-001C-369C-3882-734246B4B8B9}"/>
          </ac:spMkLst>
        </pc:spChg>
        <pc:spChg chg="mod">
          <ac:chgData name="An, Yena" userId="530c2f29-5598-4d14-acbc-af67efcc15d9" providerId="ADAL" clId="{501E6477-319E-4BFF-8E08-BAE7A6804071}" dt="2024-05-29T11:28:32.790" v="4558" actId="20577"/>
          <ac:spMkLst>
            <pc:docMk/>
            <pc:sldMk cId="3418752260" sldId="258"/>
            <ac:spMk id="8" creationId="{83D91E1C-0A2A-114B-3B09-E0B70D9B61F9}"/>
          </ac:spMkLst>
        </pc:spChg>
        <pc:spChg chg="del mod">
          <ac:chgData name="An, Yena" userId="530c2f29-5598-4d14-acbc-af67efcc15d9" providerId="ADAL" clId="{501E6477-319E-4BFF-8E08-BAE7A6804071}" dt="2024-05-29T11:13:20.923" v="4469" actId="478"/>
          <ac:spMkLst>
            <pc:docMk/>
            <pc:sldMk cId="3418752260" sldId="258"/>
            <ac:spMk id="11" creationId="{B3D40DB1-5B3F-B90E-1017-2F53E4C2ADDE}"/>
          </ac:spMkLst>
        </pc:spChg>
        <pc:spChg chg="mod">
          <ac:chgData name="An, Yena" userId="530c2f29-5598-4d14-acbc-af67efcc15d9" providerId="ADAL" clId="{501E6477-319E-4BFF-8E08-BAE7A6804071}" dt="2024-05-28T17:18:46.448" v="1488" actId="1076"/>
          <ac:spMkLst>
            <pc:docMk/>
            <pc:sldMk cId="3418752260" sldId="258"/>
            <ac:spMk id="24" creationId="{DC703BEB-8026-498A-5019-AC089FDDF1DE}"/>
          </ac:spMkLst>
        </pc:spChg>
        <pc:spChg chg="mod">
          <ac:chgData name="An, Yena" userId="530c2f29-5598-4d14-acbc-af67efcc15d9" providerId="ADAL" clId="{501E6477-319E-4BFF-8E08-BAE7A6804071}" dt="2024-05-28T17:17:45.685" v="1480" actId="12788"/>
          <ac:spMkLst>
            <pc:docMk/>
            <pc:sldMk cId="3418752260" sldId="258"/>
            <ac:spMk id="41" creationId="{BE424F6A-16A7-8F97-BB9F-F642BDFF09A3}"/>
          </ac:spMkLst>
        </pc:spChg>
        <pc:spChg chg="mod">
          <ac:chgData name="An, Yena" userId="530c2f29-5598-4d14-acbc-af67efcc15d9" providerId="ADAL" clId="{501E6477-319E-4BFF-8E08-BAE7A6804071}" dt="2024-05-28T17:18:01.687" v="1482" actId="12788"/>
          <ac:spMkLst>
            <pc:docMk/>
            <pc:sldMk cId="3418752260" sldId="258"/>
            <ac:spMk id="42" creationId="{3505C495-A343-F9D8-830A-CC1A2EC4A7CE}"/>
          </ac:spMkLst>
        </pc:spChg>
        <pc:spChg chg="mod">
          <ac:chgData name="An, Yena" userId="530c2f29-5598-4d14-acbc-af67efcc15d9" providerId="ADAL" clId="{501E6477-319E-4BFF-8E08-BAE7A6804071}" dt="2024-05-29T11:27:41.117" v="4533" actId="20577"/>
          <ac:spMkLst>
            <pc:docMk/>
            <pc:sldMk cId="3418752260" sldId="258"/>
            <ac:spMk id="44" creationId="{507B26E4-0703-5824-E622-D9808C47C848}"/>
          </ac:spMkLst>
        </pc:spChg>
        <pc:spChg chg="mod">
          <ac:chgData name="An, Yena" userId="530c2f29-5598-4d14-acbc-af67efcc15d9" providerId="ADAL" clId="{501E6477-319E-4BFF-8E08-BAE7A6804071}" dt="2024-05-29T11:27:56.174" v="4535" actId="20577"/>
          <ac:spMkLst>
            <pc:docMk/>
            <pc:sldMk cId="3418752260" sldId="258"/>
            <ac:spMk id="49" creationId="{1B439010-B62D-16DF-DAC9-E22DB5371ECA}"/>
          </ac:spMkLst>
        </pc:spChg>
        <pc:spChg chg="del">
          <ac:chgData name="An, Yena" userId="530c2f29-5598-4d14-acbc-af67efcc15d9" providerId="ADAL" clId="{501E6477-319E-4BFF-8E08-BAE7A6804071}" dt="2024-05-29T10:59:41.974" v="4468" actId="478"/>
          <ac:spMkLst>
            <pc:docMk/>
            <pc:sldMk cId="3418752260" sldId="258"/>
            <ac:spMk id="50" creationId="{755BB562-C475-FA38-857A-421029AADD75}"/>
          </ac:spMkLst>
        </pc:spChg>
        <pc:spChg chg="mod">
          <ac:chgData name="An, Yena" userId="530c2f29-5598-4d14-acbc-af67efcc15d9" providerId="ADAL" clId="{501E6477-319E-4BFF-8E08-BAE7A6804071}" dt="2024-05-29T12:55:30.509" v="4900" actId="20577"/>
          <ac:spMkLst>
            <pc:docMk/>
            <pc:sldMk cId="3418752260" sldId="258"/>
            <ac:spMk id="51" creationId="{535FB726-F94C-C919-9196-86387B665CBF}"/>
          </ac:spMkLst>
        </pc:spChg>
        <pc:spChg chg="del">
          <ac:chgData name="An, Yena" userId="530c2f29-5598-4d14-acbc-af67efcc15d9" providerId="ADAL" clId="{501E6477-319E-4BFF-8E08-BAE7A6804071}" dt="2024-05-28T18:33:25.792" v="1536" actId="478"/>
          <ac:spMkLst>
            <pc:docMk/>
            <pc:sldMk cId="3418752260" sldId="258"/>
            <ac:spMk id="54" creationId="{1F3B5AB1-4D21-F231-088E-C3158A35A829}"/>
          </ac:spMkLst>
        </pc:spChg>
        <pc:spChg chg="mod">
          <ac:chgData name="An, Yena" userId="530c2f29-5598-4d14-acbc-af67efcc15d9" providerId="ADAL" clId="{501E6477-319E-4BFF-8E08-BAE7A6804071}" dt="2024-05-29T11:13:41.690" v="4485" actId="1035"/>
          <ac:spMkLst>
            <pc:docMk/>
            <pc:sldMk cId="3418752260" sldId="258"/>
            <ac:spMk id="58" creationId="{778A7E7F-A9F0-F50D-54F3-EE1238E3F7F8}"/>
          </ac:spMkLst>
        </pc:spChg>
        <pc:grpChg chg="mod">
          <ac:chgData name="An, Yena" userId="530c2f29-5598-4d14-acbc-af67efcc15d9" providerId="ADAL" clId="{501E6477-319E-4BFF-8E08-BAE7A6804071}" dt="2024-05-28T17:18:11.272" v="1484" actId="12788"/>
          <ac:grpSpMkLst>
            <pc:docMk/>
            <pc:sldMk cId="3418752260" sldId="258"/>
            <ac:grpSpMk id="39" creationId="{908C1B36-D397-F82B-20FE-5D9F59CE08A4}"/>
          </ac:grpSpMkLst>
        </pc:grpChg>
        <pc:cxnChg chg="mod">
          <ac:chgData name="An, Yena" userId="530c2f29-5598-4d14-acbc-af67efcc15d9" providerId="ADAL" clId="{501E6477-319E-4BFF-8E08-BAE7A6804071}" dt="2024-05-28T17:18:01.687" v="1482" actId="12788"/>
          <ac:cxnSpMkLst>
            <pc:docMk/>
            <pc:sldMk cId="3418752260" sldId="258"/>
            <ac:cxnSpMk id="4" creationId="{66E9C1FF-0179-0E53-170D-447FBCCD05CA}"/>
          </ac:cxnSpMkLst>
        </pc:cxnChg>
        <pc:cxnChg chg="del mod">
          <ac:chgData name="An, Yena" userId="530c2f29-5598-4d14-acbc-af67efcc15d9" providerId="ADAL" clId="{501E6477-319E-4BFF-8E08-BAE7A6804071}" dt="2024-05-29T11:13:22.892" v="4470" actId="478"/>
          <ac:cxnSpMkLst>
            <pc:docMk/>
            <pc:sldMk cId="3418752260" sldId="258"/>
            <ac:cxnSpMk id="9" creationId="{B22FA532-A28F-0855-A0E6-69B924B70DB3}"/>
          </ac:cxnSpMkLst>
        </pc:cxnChg>
      </pc:sldChg>
      <pc:sldChg chg="addSp delSp modSp mod delAnim modAnim">
        <pc:chgData name="An, Yena" userId="530c2f29-5598-4d14-acbc-af67efcc15d9" providerId="ADAL" clId="{501E6477-319E-4BFF-8E08-BAE7A6804071}" dt="2024-05-29T14:29:00.198" v="5142" actId="1076"/>
        <pc:sldMkLst>
          <pc:docMk/>
          <pc:sldMk cId="3070905727" sldId="259"/>
        </pc:sldMkLst>
        <pc:spChg chg="mod">
          <ac:chgData name="An, Yena" userId="530c2f29-5598-4d14-acbc-af67efcc15d9" providerId="ADAL" clId="{501E6477-319E-4BFF-8E08-BAE7A6804071}" dt="2024-05-29T13:12:17.290" v="5052"/>
          <ac:spMkLst>
            <pc:docMk/>
            <pc:sldMk cId="3070905727" sldId="259"/>
            <ac:spMk id="2" creationId="{D461F879-232A-4FF6-A6F3-11729ABAC68C}"/>
          </ac:spMkLst>
        </pc:spChg>
        <pc:spChg chg="mod">
          <ac:chgData name="An, Yena" userId="530c2f29-5598-4d14-acbc-af67efcc15d9" providerId="ADAL" clId="{501E6477-319E-4BFF-8E08-BAE7A6804071}" dt="2024-05-29T14:29:00.198" v="5142" actId="1076"/>
          <ac:spMkLst>
            <pc:docMk/>
            <pc:sldMk cId="3070905727" sldId="259"/>
            <ac:spMk id="3" creationId="{AEE3BE52-38B1-A619-D452-E347335BFB5F}"/>
          </ac:spMkLst>
        </pc:spChg>
        <pc:spChg chg="del mod">
          <ac:chgData name="An, Yena" userId="530c2f29-5598-4d14-acbc-af67efcc15d9" providerId="ADAL" clId="{501E6477-319E-4BFF-8E08-BAE7A6804071}" dt="2024-05-28T13:10:08.864" v="1142" actId="478"/>
          <ac:spMkLst>
            <pc:docMk/>
            <pc:sldMk cId="3070905727" sldId="259"/>
            <ac:spMk id="4" creationId="{385A006D-3EBD-4E53-AF79-522D095B285D}"/>
          </ac:spMkLst>
        </pc:spChg>
        <pc:spChg chg="add del mod">
          <ac:chgData name="An, Yena" userId="530c2f29-5598-4d14-acbc-af67efcc15d9" providerId="ADAL" clId="{501E6477-319E-4BFF-8E08-BAE7A6804071}" dt="2024-05-28T13:03:25.146" v="806" actId="478"/>
          <ac:spMkLst>
            <pc:docMk/>
            <pc:sldMk cId="3070905727" sldId="259"/>
            <ac:spMk id="6" creationId="{E2E66C18-C193-D21D-1BAA-E0FA781318A5}"/>
          </ac:spMkLst>
        </pc:spChg>
        <pc:spChg chg="mod">
          <ac:chgData name="An, Yena" userId="530c2f29-5598-4d14-acbc-af67efcc15d9" providerId="ADAL" clId="{501E6477-319E-4BFF-8E08-BAE7A6804071}" dt="2024-05-29T13:25:49.264" v="5140" actId="113"/>
          <ac:spMkLst>
            <pc:docMk/>
            <pc:sldMk cId="3070905727" sldId="259"/>
            <ac:spMk id="8" creationId="{9498CC0A-3D74-F7B3-0D8D-ED52E77A4AF1}"/>
          </ac:spMkLst>
        </pc:spChg>
        <pc:spChg chg="add mod">
          <ac:chgData name="An, Yena" userId="530c2f29-5598-4d14-acbc-af67efcc15d9" providerId="ADAL" clId="{501E6477-319E-4BFF-8E08-BAE7A6804071}" dt="2024-05-29T11:29:21.907" v="4565" actId="20577"/>
          <ac:spMkLst>
            <pc:docMk/>
            <pc:sldMk cId="3070905727" sldId="259"/>
            <ac:spMk id="16" creationId="{3A9A3D3A-1B6A-F3F5-B3B9-72429020DEEF}"/>
          </ac:spMkLst>
        </pc:spChg>
        <pc:spChg chg="add mod">
          <ac:chgData name="An, Yena" userId="530c2f29-5598-4d14-acbc-af67efcc15d9" providerId="ADAL" clId="{501E6477-319E-4BFF-8E08-BAE7A6804071}" dt="2024-05-28T19:13:44.560" v="2216" actId="12788"/>
          <ac:spMkLst>
            <pc:docMk/>
            <pc:sldMk cId="3070905727" sldId="259"/>
            <ac:spMk id="17" creationId="{BA1ACC6A-03CF-B393-7A17-E819C3A37999}"/>
          </ac:spMkLst>
        </pc:spChg>
        <pc:spChg chg="add mod">
          <ac:chgData name="An, Yena" userId="530c2f29-5598-4d14-acbc-af67efcc15d9" providerId="ADAL" clId="{501E6477-319E-4BFF-8E08-BAE7A6804071}" dt="2024-05-29T11:30:06.280" v="4573" actId="20577"/>
          <ac:spMkLst>
            <pc:docMk/>
            <pc:sldMk cId="3070905727" sldId="259"/>
            <ac:spMk id="18" creationId="{E9242364-666F-1289-1155-F602E20CAFBD}"/>
          </ac:spMkLst>
        </pc:spChg>
        <pc:spChg chg="add mod">
          <ac:chgData name="An, Yena" userId="530c2f29-5598-4d14-acbc-af67efcc15d9" providerId="ADAL" clId="{501E6477-319E-4BFF-8E08-BAE7A6804071}" dt="2024-05-28T19:14:26.089" v="2220" actId="1076"/>
          <ac:spMkLst>
            <pc:docMk/>
            <pc:sldMk cId="3070905727" sldId="259"/>
            <ac:spMk id="23" creationId="{D826A754-05F7-98DB-13A3-00F4519871EB}"/>
          </ac:spMkLst>
        </pc:spChg>
        <pc:graphicFrameChg chg="mod modGraphic">
          <ac:chgData name="An, Yena" userId="530c2f29-5598-4d14-acbc-af67efcc15d9" providerId="ADAL" clId="{501E6477-319E-4BFF-8E08-BAE7A6804071}" dt="2024-05-28T19:13:44.560" v="2216" actId="12788"/>
          <ac:graphicFrameMkLst>
            <pc:docMk/>
            <pc:sldMk cId="3070905727" sldId="259"/>
            <ac:graphicFrameMk id="19" creationId="{72B5735C-6C7C-30DF-9C34-FA4BCB55657C}"/>
          </ac:graphicFrameMkLst>
        </pc:graphicFrameChg>
        <pc:picChg chg="add del mod">
          <ac:chgData name="An, Yena" userId="530c2f29-5598-4d14-acbc-af67efcc15d9" providerId="ADAL" clId="{501E6477-319E-4BFF-8E08-BAE7A6804071}" dt="2024-05-28T12:20:11.955" v="158" actId="478"/>
          <ac:picMkLst>
            <pc:docMk/>
            <pc:sldMk cId="3070905727" sldId="259"/>
            <ac:picMk id="9" creationId="{CF927C49-9587-AA73-0C6F-C6DF168AA4FC}"/>
          </ac:picMkLst>
        </pc:picChg>
        <pc:picChg chg="add del mod">
          <ac:chgData name="An, Yena" userId="530c2f29-5598-4d14-acbc-af67efcc15d9" providerId="ADAL" clId="{501E6477-319E-4BFF-8E08-BAE7A6804071}" dt="2024-05-28T12:30:01.941" v="162" actId="478"/>
          <ac:picMkLst>
            <pc:docMk/>
            <pc:sldMk cId="3070905727" sldId="259"/>
            <ac:picMk id="11" creationId="{DC0D4522-E405-89BA-3F91-25EFBAD6EECF}"/>
          </ac:picMkLst>
        </pc:picChg>
        <pc:picChg chg="add mod modCrop">
          <ac:chgData name="An, Yena" userId="530c2f29-5598-4d14-acbc-af67efcc15d9" providerId="ADAL" clId="{501E6477-319E-4BFF-8E08-BAE7A6804071}" dt="2024-05-29T08:13:39.871" v="4332" actId="14100"/>
          <ac:picMkLst>
            <pc:docMk/>
            <pc:sldMk cId="3070905727" sldId="259"/>
            <ac:picMk id="13" creationId="{D2247685-E4DD-D1DB-DE66-50439293739C}"/>
          </ac:picMkLst>
        </pc:picChg>
        <pc:picChg chg="add mod modCrop">
          <ac:chgData name="An, Yena" userId="530c2f29-5598-4d14-acbc-af67efcc15d9" providerId="ADAL" clId="{501E6477-319E-4BFF-8E08-BAE7A6804071}" dt="2024-05-28T19:13:44.560" v="2216" actId="12788"/>
          <ac:picMkLst>
            <pc:docMk/>
            <pc:sldMk cId="3070905727" sldId="259"/>
            <ac:picMk id="15" creationId="{D0439C0E-A66D-CFF4-80E2-B9D0A8CD3542}"/>
          </ac:picMkLst>
        </pc:picChg>
        <pc:picChg chg="del">
          <ac:chgData name="An, Yena" userId="530c2f29-5598-4d14-acbc-af67efcc15d9" providerId="ADAL" clId="{501E6477-319E-4BFF-8E08-BAE7A6804071}" dt="2024-05-28T12:13:59.621" v="152" actId="478"/>
          <ac:picMkLst>
            <pc:docMk/>
            <pc:sldMk cId="3070905727" sldId="259"/>
            <ac:picMk id="29" creationId="{0421FAE4-C97D-9159-F8EC-2872F9350B02}"/>
          </ac:picMkLst>
        </pc:picChg>
        <pc:picChg chg="del">
          <ac:chgData name="An, Yena" userId="530c2f29-5598-4d14-acbc-af67efcc15d9" providerId="ADAL" clId="{501E6477-319E-4BFF-8E08-BAE7A6804071}" dt="2024-05-28T12:30:28.367" v="166" actId="478"/>
          <ac:picMkLst>
            <pc:docMk/>
            <pc:sldMk cId="3070905727" sldId="259"/>
            <ac:picMk id="31" creationId="{38FBF52B-FD7A-5E69-3777-9D71F0AED00D}"/>
          </ac:picMkLst>
        </pc:picChg>
        <pc:cxnChg chg="add del mod">
          <ac:chgData name="An, Yena" userId="530c2f29-5598-4d14-acbc-af67efcc15d9" providerId="ADAL" clId="{501E6477-319E-4BFF-8E08-BAE7A6804071}" dt="2024-05-28T14:05:11.761" v="1457" actId="478"/>
          <ac:cxnSpMkLst>
            <pc:docMk/>
            <pc:sldMk cId="3070905727" sldId="259"/>
            <ac:cxnSpMk id="21" creationId="{4F6C9F05-2C40-F9A8-528E-BD8A7C6AEAA2}"/>
          </ac:cxnSpMkLst>
        </pc:cxnChg>
      </pc:sldChg>
      <pc:sldChg chg="addSp delSp modSp mod modAnim">
        <pc:chgData name="An, Yena" userId="530c2f29-5598-4d14-acbc-af67efcc15d9" providerId="ADAL" clId="{501E6477-319E-4BFF-8E08-BAE7A6804071}" dt="2024-05-29T13:12:19.616" v="5053"/>
        <pc:sldMkLst>
          <pc:docMk/>
          <pc:sldMk cId="3081968996" sldId="260"/>
        </pc:sldMkLst>
        <pc:spChg chg="mod">
          <ac:chgData name="An, Yena" userId="530c2f29-5598-4d14-acbc-af67efcc15d9" providerId="ADAL" clId="{501E6477-319E-4BFF-8E08-BAE7A6804071}" dt="2024-05-29T13:12:19.616" v="5053"/>
          <ac:spMkLst>
            <pc:docMk/>
            <pc:sldMk cId="3081968996" sldId="260"/>
            <ac:spMk id="2" creationId="{63FB3AE2-4EEC-4D76-9D21-6EEEB0D146A0}"/>
          </ac:spMkLst>
        </pc:spChg>
        <pc:spChg chg="del mod">
          <ac:chgData name="An, Yena" userId="530c2f29-5598-4d14-acbc-af67efcc15d9" providerId="ADAL" clId="{501E6477-319E-4BFF-8E08-BAE7A6804071}" dt="2024-05-28T18:41:09.117" v="1682" actId="478"/>
          <ac:spMkLst>
            <pc:docMk/>
            <pc:sldMk cId="3081968996" sldId="260"/>
            <ac:spMk id="3" creationId="{0C33A466-30F4-4DEE-97B7-56A5FE0A16F6}"/>
          </ac:spMkLst>
        </pc:spChg>
        <pc:spChg chg="del mod">
          <ac:chgData name="An, Yena" userId="530c2f29-5598-4d14-acbc-af67efcc15d9" providerId="ADAL" clId="{501E6477-319E-4BFF-8E08-BAE7A6804071}" dt="2024-05-28T18:41:04.663" v="1680" actId="478"/>
          <ac:spMkLst>
            <pc:docMk/>
            <pc:sldMk cId="3081968996" sldId="260"/>
            <ac:spMk id="4" creationId="{C0FA2123-C3E9-47D9-BA5E-C096ED02A60E}"/>
          </ac:spMkLst>
        </pc:spChg>
        <pc:spChg chg="del">
          <ac:chgData name="An, Yena" userId="530c2f29-5598-4d14-acbc-af67efcc15d9" providerId="ADAL" clId="{501E6477-319E-4BFF-8E08-BAE7A6804071}" dt="2024-05-28T18:37:17.734" v="1577" actId="478"/>
          <ac:spMkLst>
            <pc:docMk/>
            <pc:sldMk cId="3081968996" sldId="260"/>
            <ac:spMk id="5" creationId="{116582A2-BB3B-4EBA-B249-149271FAC269}"/>
          </ac:spMkLst>
        </pc:spChg>
        <pc:spChg chg="add mod">
          <ac:chgData name="An, Yena" userId="530c2f29-5598-4d14-acbc-af67efcc15d9" providerId="ADAL" clId="{501E6477-319E-4BFF-8E08-BAE7A6804071}" dt="2024-05-29T13:11:41.961" v="5051" actId="20577"/>
          <ac:spMkLst>
            <pc:docMk/>
            <pc:sldMk cId="3081968996" sldId="260"/>
            <ac:spMk id="8" creationId="{F66852AA-78B9-B05C-7F35-B0B52289861C}"/>
          </ac:spMkLst>
        </pc:spChg>
        <pc:spChg chg="add del mod">
          <ac:chgData name="An, Yena" userId="530c2f29-5598-4d14-acbc-af67efcc15d9" providerId="ADAL" clId="{501E6477-319E-4BFF-8E08-BAE7A6804071}" dt="2024-05-28T18:41:06.779" v="1681" actId="478"/>
          <ac:spMkLst>
            <pc:docMk/>
            <pc:sldMk cId="3081968996" sldId="260"/>
            <ac:spMk id="10" creationId="{9EB692CA-446C-2A47-A321-EB34CBD4A28A}"/>
          </ac:spMkLst>
        </pc:spChg>
        <pc:spChg chg="add del mod">
          <ac:chgData name="An, Yena" userId="530c2f29-5598-4d14-acbc-af67efcc15d9" providerId="ADAL" clId="{501E6477-319E-4BFF-8E08-BAE7A6804071}" dt="2024-05-28T18:41:10.969" v="1683" actId="478"/>
          <ac:spMkLst>
            <pc:docMk/>
            <pc:sldMk cId="3081968996" sldId="260"/>
            <ac:spMk id="12" creationId="{E81D462B-6994-7159-C76A-D89735F1BBD7}"/>
          </ac:spMkLst>
        </pc:spChg>
        <pc:spChg chg="add mod">
          <ac:chgData name="An, Yena" userId="530c2f29-5598-4d14-acbc-af67efcc15d9" providerId="ADAL" clId="{501E6477-319E-4BFF-8E08-BAE7A6804071}" dt="2024-05-29T13:10:18.128" v="5041" actId="1037"/>
          <ac:spMkLst>
            <pc:docMk/>
            <pc:sldMk cId="3081968996" sldId="260"/>
            <ac:spMk id="13" creationId="{24FAA95E-1D60-7569-D4CB-85435CACF853}"/>
          </ac:spMkLst>
        </pc:spChg>
        <pc:spChg chg="add mod">
          <ac:chgData name="An, Yena" userId="530c2f29-5598-4d14-acbc-af67efcc15d9" providerId="ADAL" clId="{501E6477-319E-4BFF-8E08-BAE7A6804071}" dt="2024-05-29T13:10:36.429" v="5044" actId="1076"/>
          <ac:spMkLst>
            <pc:docMk/>
            <pc:sldMk cId="3081968996" sldId="260"/>
            <ac:spMk id="42" creationId="{D6178562-BD1D-0164-23AF-70C2663BFDB0}"/>
          </ac:spMkLst>
        </pc:spChg>
        <pc:graphicFrameChg chg="add mod modGraphic">
          <ac:chgData name="An, Yena" userId="530c2f29-5598-4d14-acbc-af67efcc15d9" providerId="ADAL" clId="{501E6477-319E-4BFF-8E08-BAE7A6804071}" dt="2024-05-29T13:10:18.128" v="5041" actId="1037"/>
          <ac:graphicFrameMkLst>
            <pc:docMk/>
            <pc:sldMk cId="3081968996" sldId="260"/>
            <ac:graphicFrameMk id="7" creationId="{15DE3EB5-5C87-9784-DEB8-15B6827BFF5E}"/>
          </ac:graphicFrameMkLst>
        </pc:graphicFrameChg>
        <pc:picChg chg="add del mod modCrop">
          <ac:chgData name="An, Yena" userId="530c2f29-5598-4d14-acbc-af67efcc15d9" providerId="ADAL" clId="{501E6477-319E-4BFF-8E08-BAE7A6804071}" dt="2024-05-28T18:52:15.286" v="1921" actId="478"/>
          <ac:picMkLst>
            <pc:docMk/>
            <pc:sldMk cId="3081968996" sldId="260"/>
            <ac:picMk id="15" creationId="{B6F32A30-F57C-9AA1-6EAE-7FB7AF2D466D}"/>
          </ac:picMkLst>
        </pc:picChg>
        <pc:picChg chg="add del mod">
          <ac:chgData name="An, Yena" userId="530c2f29-5598-4d14-acbc-af67efcc15d9" providerId="ADAL" clId="{501E6477-319E-4BFF-8E08-BAE7A6804071}" dt="2024-05-28T18:52:29.047" v="1926" actId="478"/>
          <ac:picMkLst>
            <pc:docMk/>
            <pc:sldMk cId="3081968996" sldId="260"/>
            <ac:picMk id="17" creationId="{366D3BFF-677B-9185-DA59-04918E8E48E6}"/>
          </ac:picMkLst>
        </pc:picChg>
        <pc:picChg chg="add del mod">
          <ac:chgData name="An, Yena" userId="530c2f29-5598-4d14-acbc-af67efcc15d9" providerId="ADAL" clId="{501E6477-319E-4BFF-8E08-BAE7A6804071}" dt="2024-05-28T18:52:53.128" v="1932" actId="478"/>
          <ac:picMkLst>
            <pc:docMk/>
            <pc:sldMk cId="3081968996" sldId="260"/>
            <ac:picMk id="19" creationId="{3431A152-9544-478B-2089-8EA8573A9058}"/>
          </ac:picMkLst>
        </pc:picChg>
        <pc:picChg chg="add del mod">
          <ac:chgData name="An, Yena" userId="530c2f29-5598-4d14-acbc-af67efcc15d9" providerId="ADAL" clId="{501E6477-319E-4BFF-8E08-BAE7A6804071}" dt="2024-05-28T18:53:50.018" v="1949" actId="478"/>
          <ac:picMkLst>
            <pc:docMk/>
            <pc:sldMk cId="3081968996" sldId="260"/>
            <ac:picMk id="21" creationId="{DCEAE983-2CD5-BC4D-E42B-BAA7D30CC2E5}"/>
          </ac:picMkLst>
        </pc:picChg>
        <pc:picChg chg="add del mod">
          <ac:chgData name="An, Yena" userId="530c2f29-5598-4d14-acbc-af67efcc15d9" providerId="ADAL" clId="{501E6477-319E-4BFF-8E08-BAE7A6804071}" dt="2024-05-28T18:54:02.232" v="1953" actId="478"/>
          <ac:picMkLst>
            <pc:docMk/>
            <pc:sldMk cId="3081968996" sldId="260"/>
            <ac:picMk id="23" creationId="{EBBA6703-2538-7CD5-AB89-BA90E8ED543A}"/>
          </ac:picMkLst>
        </pc:picChg>
        <pc:picChg chg="add del mod">
          <ac:chgData name="An, Yena" userId="530c2f29-5598-4d14-acbc-af67efcc15d9" providerId="ADAL" clId="{501E6477-319E-4BFF-8E08-BAE7A6804071}" dt="2024-05-28T18:54:12.282" v="1956" actId="478"/>
          <ac:picMkLst>
            <pc:docMk/>
            <pc:sldMk cId="3081968996" sldId="260"/>
            <ac:picMk id="25" creationId="{FECA8CBE-0FF6-6F59-A233-10130D0C96DF}"/>
          </ac:picMkLst>
        </pc:picChg>
        <pc:picChg chg="add del mod">
          <ac:chgData name="An, Yena" userId="530c2f29-5598-4d14-acbc-af67efcc15d9" providerId="ADAL" clId="{501E6477-319E-4BFF-8E08-BAE7A6804071}" dt="2024-05-28T18:57:20.754" v="1985" actId="478"/>
          <ac:picMkLst>
            <pc:docMk/>
            <pc:sldMk cId="3081968996" sldId="260"/>
            <ac:picMk id="27" creationId="{F72DC4A4-B010-D13D-3D12-F94477ED5BE9}"/>
          </ac:picMkLst>
        </pc:picChg>
        <pc:picChg chg="add del mod">
          <ac:chgData name="An, Yena" userId="530c2f29-5598-4d14-acbc-af67efcc15d9" providerId="ADAL" clId="{501E6477-319E-4BFF-8E08-BAE7A6804071}" dt="2024-05-28T18:55:15.350" v="1970" actId="478"/>
          <ac:picMkLst>
            <pc:docMk/>
            <pc:sldMk cId="3081968996" sldId="260"/>
            <ac:picMk id="29" creationId="{13197C34-C1A6-B704-B580-41A12700DB15}"/>
          </ac:picMkLst>
        </pc:picChg>
        <pc:picChg chg="add del mod">
          <ac:chgData name="An, Yena" userId="530c2f29-5598-4d14-acbc-af67efcc15d9" providerId="ADAL" clId="{501E6477-319E-4BFF-8E08-BAE7A6804071}" dt="2024-05-28T18:57:45.572" v="1995" actId="478"/>
          <ac:picMkLst>
            <pc:docMk/>
            <pc:sldMk cId="3081968996" sldId="260"/>
            <ac:picMk id="31" creationId="{4E5C0C65-BC08-6623-77B8-A6A9B5398B2D}"/>
          </ac:picMkLst>
        </pc:picChg>
        <pc:picChg chg="add del mod modCrop">
          <ac:chgData name="An, Yena" userId="530c2f29-5598-4d14-acbc-af67efcc15d9" providerId="ADAL" clId="{501E6477-319E-4BFF-8E08-BAE7A6804071}" dt="2024-05-28T18:57:35.837" v="1991" actId="478"/>
          <ac:picMkLst>
            <pc:docMk/>
            <pc:sldMk cId="3081968996" sldId="260"/>
            <ac:picMk id="33" creationId="{A0AB2A71-D81C-1DBC-08A5-6DB74D200317}"/>
          </ac:picMkLst>
        </pc:picChg>
        <pc:picChg chg="add mod modCrop">
          <ac:chgData name="An, Yena" userId="530c2f29-5598-4d14-acbc-af67efcc15d9" providerId="ADAL" clId="{501E6477-319E-4BFF-8E08-BAE7A6804071}" dt="2024-05-29T13:10:18.128" v="5041" actId="1037"/>
          <ac:picMkLst>
            <pc:docMk/>
            <pc:sldMk cId="3081968996" sldId="260"/>
            <ac:picMk id="35" creationId="{4DC27F6B-651E-30F1-3BE3-950977E47242}"/>
          </ac:picMkLst>
        </pc:picChg>
        <pc:picChg chg="add mod">
          <ac:chgData name="An, Yena" userId="530c2f29-5598-4d14-acbc-af67efcc15d9" providerId="ADAL" clId="{501E6477-319E-4BFF-8E08-BAE7A6804071}" dt="2024-05-29T13:10:18.128" v="5041" actId="1037"/>
          <ac:picMkLst>
            <pc:docMk/>
            <pc:sldMk cId="3081968996" sldId="260"/>
            <ac:picMk id="37" creationId="{289118EA-19ED-59A2-A0F1-8A68F0C4AF70}"/>
          </ac:picMkLst>
        </pc:picChg>
        <pc:picChg chg="add mod">
          <ac:chgData name="An, Yena" userId="530c2f29-5598-4d14-acbc-af67efcc15d9" providerId="ADAL" clId="{501E6477-319E-4BFF-8E08-BAE7A6804071}" dt="2024-05-29T13:10:18.128" v="5041" actId="1037"/>
          <ac:picMkLst>
            <pc:docMk/>
            <pc:sldMk cId="3081968996" sldId="260"/>
            <ac:picMk id="39" creationId="{3EEDB5F3-3C0A-42D9-FDC4-50F4C4B6A07C}"/>
          </ac:picMkLst>
        </pc:picChg>
        <pc:picChg chg="add del mod">
          <ac:chgData name="An, Yena" userId="530c2f29-5598-4d14-acbc-af67efcc15d9" providerId="ADAL" clId="{501E6477-319E-4BFF-8E08-BAE7A6804071}" dt="2024-05-28T18:59:09.870" v="2011" actId="478"/>
          <ac:picMkLst>
            <pc:docMk/>
            <pc:sldMk cId="3081968996" sldId="260"/>
            <ac:picMk id="41" creationId="{7ABE20F7-CF60-F4FA-E0D1-12819E491F98}"/>
          </ac:picMkLst>
        </pc:picChg>
      </pc:sldChg>
      <pc:sldChg chg="modSp mod modAnim">
        <pc:chgData name="An, Yena" userId="530c2f29-5598-4d14-acbc-af67efcc15d9" providerId="ADAL" clId="{501E6477-319E-4BFF-8E08-BAE7A6804071}" dt="2024-05-29T14:34:53.492" v="5200" actId="113"/>
        <pc:sldMkLst>
          <pc:docMk/>
          <pc:sldMk cId="997447942" sldId="261"/>
        </pc:sldMkLst>
        <pc:spChg chg="mod">
          <ac:chgData name="An, Yena" userId="530c2f29-5598-4d14-acbc-af67efcc15d9" providerId="ADAL" clId="{501E6477-319E-4BFF-8E08-BAE7A6804071}" dt="2024-05-29T14:34:53.492" v="5200" actId="113"/>
          <ac:spMkLst>
            <pc:docMk/>
            <pc:sldMk cId="997447942" sldId="261"/>
            <ac:spMk id="8" creationId="{75D007EC-158B-49C1-81C9-BD523E916385}"/>
          </ac:spMkLst>
        </pc:spChg>
      </pc:sldChg>
      <pc:sldChg chg="modSp mod modAnim">
        <pc:chgData name="An, Yena" userId="530c2f29-5598-4d14-acbc-af67efcc15d9" providerId="ADAL" clId="{501E6477-319E-4BFF-8E08-BAE7A6804071}" dt="2024-05-29T14:34:05.518" v="5197" actId="113"/>
        <pc:sldMkLst>
          <pc:docMk/>
          <pc:sldMk cId="733521899" sldId="262"/>
        </pc:sldMkLst>
        <pc:spChg chg="mod">
          <ac:chgData name="An, Yena" userId="530c2f29-5598-4d14-acbc-af67efcc15d9" providerId="ADAL" clId="{501E6477-319E-4BFF-8E08-BAE7A6804071}" dt="2024-05-29T14:34:05.518" v="5197" actId="113"/>
          <ac:spMkLst>
            <pc:docMk/>
            <pc:sldMk cId="733521899" sldId="262"/>
            <ac:spMk id="3" creationId="{3E1FB01D-3D5D-498E-A842-86F7398A0D84}"/>
          </ac:spMkLst>
        </pc:spChg>
      </pc:sldChg>
      <pc:sldChg chg="addSp modSp mod">
        <pc:chgData name="An, Yena" userId="530c2f29-5598-4d14-acbc-af67efcc15d9" providerId="ADAL" clId="{501E6477-319E-4BFF-8E08-BAE7A6804071}" dt="2024-05-28T11:41:50.671" v="121" actId="2711"/>
        <pc:sldMkLst>
          <pc:docMk/>
          <pc:sldMk cId="2836534729" sldId="263"/>
        </pc:sldMkLst>
        <pc:spChg chg="mod">
          <ac:chgData name="An, Yena" userId="530c2f29-5598-4d14-acbc-af67efcc15d9" providerId="ADAL" clId="{501E6477-319E-4BFF-8E08-BAE7A6804071}" dt="2024-05-28T11:41:50.671" v="121" actId="2711"/>
          <ac:spMkLst>
            <pc:docMk/>
            <pc:sldMk cId="2836534729" sldId="263"/>
            <ac:spMk id="3" creationId="{2CCE9339-4410-4083-8CD3-CB34D732C023}"/>
          </ac:spMkLst>
        </pc:spChg>
        <pc:spChg chg="add">
          <ac:chgData name="An, Yena" userId="530c2f29-5598-4d14-acbc-af67efcc15d9" providerId="ADAL" clId="{501E6477-319E-4BFF-8E08-BAE7A6804071}" dt="2024-05-28T11:18:14.438" v="20"/>
          <ac:spMkLst>
            <pc:docMk/>
            <pc:sldMk cId="2836534729" sldId="263"/>
            <ac:spMk id="6" creationId="{0AC903B9-7732-0096-AAFE-EA0244B954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7306E1-7687-4420-A6CB-B06BB308EAB6}" type="datetimeFigureOut">
              <a:rPr lang="en-GB" smtClean="0"/>
              <a:t>29/05/2024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F7F43-53B9-412B-8C0F-FD465CEEA063}" type="slidenum">
              <a:rPr lang="en-GB" smtClean="0"/>
              <a:t>‹#›</a:t>
            </a:fld>
            <a:endParaRPr lang="en-GB"/>
          </a:p>
        </p:txBody>
      </p:sp>
    </p:spTree>
    <p:extLst>
      <p:ext uri="{BB962C8B-B14F-4D97-AF65-F5344CB8AC3E}">
        <p14:creationId xmlns:p14="http://schemas.microsoft.com/office/powerpoint/2010/main" val="103894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title could be something like:</a:t>
            </a:r>
          </a:p>
          <a:p>
            <a:r>
              <a:rPr lang="en-US" dirty="0"/>
              <a:t>“Machine Learning Uncovers Potential [Type of Variables] Biomarkers of [Disease] Prediction”</a:t>
            </a:r>
          </a:p>
          <a:p>
            <a:r>
              <a:rPr lang="en-US" dirty="0"/>
              <a:t>“Development of a Machine Learning Pipeline to Predict [Disease]”</a:t>
            </a:r>
          </a:p>
          <a:p>
            <a:endParaRPr lang="en-US" dirty="0"/>
          </a:p>
          <a:p>
            <a:r>
              <a:rPr lang="en-US" dirty="0"/>
              <a:t>Have a look at different papers for inspiration, you can also base it on the research question.</a:t>
            </a:r>
          </a:p>
          <a:p>
            <a:endParaRPr lang="en-US" dirty="0"/>
          </a:p>
          <a:p>
            <a:r>
              <a:rPr lang="en-US" dirty="0"/>
              <a:t>You don’t have to read your title word-for-word but please do consider introducing yourself and broadly mention what you’ll discuss as ‘introduction’. E.g. “I am […] and I will talk about my data analysis pipeline to create a machine learning model to predict […]”</a:t>
            </a:r>
            <a:endParaRPr lang="en-GB" dirty="0"/>
          </a:p>
        </p:txBody>
      </p:sp>
      <p:sp>
        <p:nvSpPr>
          <p:cNvPr id="4" name="Slide Number Placeholder 3"/>
          <p:cNvSpPr>
            <a:spLocks noGrp="1"/>
          </p:cNvSpPr>
          <p:nvPr>
            <p:ph type="sldNum" sz="quarter" idx="5"/>
          </p:nvPr>
        </p:nvSpPr>
        <p:spPr/>
        <p:txBody>
          <a:bodyPr/>
          <a:lstStyle/>
          <a:p>
            <a:fld id="{6B1F7F43-53B9-412B-8C0F-FD465CEEA063}" type="slidenum">
              <a:rPr lang="en-GB" smtClean="0"/>
              <a:t>1</a:t>
            </a:fld>
            <a:endParaRPr lang="en-GB"/>
          </a:p>
        </p:txBody>
      </p:sp>
    </p:spTree>
    <p:extLst>
      <p:ext uri="{BB962C8B-B14F-4D97-AF65-F5344CB8AC3E}">
        <p14:creationId xmlns:p14="http://schemas.microsoft.com/office/powerpoint/2010/main" val="111067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 set (type of data, size, training/validation/test)</a:t>
            </a:r>
          </a:p>
          <a:p>
            <a:endParaRPr lang="en-US" dirty="0"/>
          </a:p>
          <a:p>
            <a:r>
              <a:rPr lang="en-US" dirty="0"/>
              <a:t>Explain any processing of the dataset</a:t>
            </a:r>
          </a:p>
          <a:p>
            <a:endParaRPr lang="en-US" dirty="0"/>
          </a:p>
          <a:p>
            <a:r>
              <a:rPr lang="en-US" dirty="0"/>
              <a:t>Detail how you </a:t>
            </a:r>
            <a:r>
              <a:rPr lang="en-GB" dirty="0"/>
              <a:t>optimised</a:t>
            </a:r>
            <a:r>
              <a:rPr lang="en-US" dirty="0"/>
              <a:t> parameters for the dimension reduction, clustering and/or classification/regression algorithms</a:t>
            </a:r>
          </a:p>
          <a:p>
            <a:r>
              <a:rPr lang="en-US" dirty="0"/>
              <a:t>Don’t forget to cite the methods you used, either find the original paper or cite the package (incl. version) and function(s) used</a:t>
            </a:r>
            <a:endParaRPr lang="en-GB" dirty="0"/>
          </a:p>
        </p:txBody>
      </p:sp>
      <p:sp>
        <p:nvSpPr>
          <p:cNvPr id="4" name="Slide Number Placeholder 3"/>
          <p:cNvSpPr>
            <a:spLocks noGrp="1"/>
          </p:cNvSpPr>
          <p:nvPr>
            <p:ph type="sldNum" sz="quarter" idx="5"/>
          </p:nvPr>
        </p:nvSpPr>
        <p:spPr/>
        <p:txBody>
          <a:bodyPr/>
          <a:lstStyle/>
          <a:p>
            <a:fld id="{6B1F7F43-53B9-412B-8C0F-FD465CEEA063}" type="slidenum">
              <a:rPr lang="en-GB" smtClean="0"/>
              <a:t>2</a:t>
            </a:fld>
            <a:endParaRPr lang="en-GB"/>
          </a:p>
        </p:txBody>
      </p:sp>
    </p:spTree>
    <p:extLst>
      <p:ext uri="{BB962C8B-B14F-4D97-AF65-F5344CB8AC3E}">
        <p14:creationId xmlns:p14="http://schemas.microsoft.com/office/powerpoint/2010/main" val="2828934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have 2 slides for methods or a figure, this depends on how much space you need.</a:t>
            </a:r>
          </a:p>
          <a:p>
            <a:endParaRPr lang="en-US" dirty="0"/>
          </a:p>
          <a:p>
            <a:r>
              <a:rPr lang="en-US" dirty="0"/>
              <a:t>You don’t need the full reference here if you have a separate reference slide (but will need time to show this), if you choose not to have the reference slide do ensure the complete reference is shown on each slide.</a:t>
            </a:r>
            <a:endParaRPr lang="en-GB" dirty="0"/>
          </a:p>
        </p:txBody>
      </p:sp>
      <p:sp>
        <p:nvSpPr>
          <p:cNvPr id="4" name="Slide Number Placeholder 3"/>
          <p:cNvSpPr>
            <a:spLocks noGrp="1"/>
          </p:cNvSpPr>
          <p:nvPr>
            <p:ph type="sldNum" sz="quarter" idx="5"/>
          </p:nvPr>
        </p:nvSpPr>
        <p:spPr/>
        <p:txBody>
          <a:bodyPr/>
          <a:lstStyle/>
          <a:p>
            <a:fld id="{6B1F7F43-53B9-412B-8C0F-FD465CEEA063}" type="slidenum">
              <a:rPr lang="en-GB" smtClean="0"/>
              <a:t>3</a:t>
            </a:fld>
            <a:endParaRPr lang="en-GB"/>
          </a:p>
        </p:txBody>
      </p:sp>
    </p:spTree>
    <p:extLst>
      <p:ext uri="{BB962C8B-B14F-4D97-AF65-F5344CB8AC3E}">
        <p14:creationId xmlns:p14="http://schemas.microsoft.com/office/powerpoint/2010/main" val="948908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add here a comparison with other work, e.g. if you have found a paper in which they aim to predict the same disease with more/less data with better/worse predictive ability – how do their methods compare to yours?</a:t>
            </a:r>
            <a:endParaRPr lang="en-GB" dirty="0"/>
          </a:p>
        </p:txBody>
      </p:sp>
      <p:sp>
        <p:nvSpPr>
          <p:cNvPr id="4" name="Slide Number Placeholder 3"/>
          <p:cNvSpPr>
            <a:spLocks noGrp="1"/>
          </p:cNvSpPr>
          <p:nvPr>
            <p:ph type="sldNum" sz="quarter" idx="5"/>
          </p:nvPr>
        </p:nvSpPr>
        <p:spPr/>
        <p:txBody>
          <a:bodyPr/>
          <a:lstStyle/>
          <a:p>
            <a:fld id="{6B1F7F43-53B9-412B-8C0F-FD465CEEA063}" type="slidenum">
              <a:rPr lang="en-GB" smtClean="0"/>
              <a:t>6</a:t>
            </a:fld>
            <a:endParaRPr lang="en-GB"/>
          </a:p>
        </p:txBody>
      </p:sp>
    </p:spTree>
    <p:extLst>
      <p:ext uri="{BB962C8B-B14F-4D97-AF65-F5344CB8AC3E}">
        <p14:creationId xmlns:p14="http://schemas.microsoft.com/office/powerpoint/2010/main" val="2867922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aim is to finish your presentation in 5 minutes, not going over 5 minutes means a question can be asked on the future work so this can be detailed in an answer rather than on slide, if you go over means there is less time for questions so more information needs to be clear from the slides</a:t>
            </a:r>
          </a:p>
        </p:txBody>
      </p:sp>
      <p:sp>
        <p:nvSpPr>
          <p:cNvPr id="4" name="Slide Number Placeholder 3"/>
          <p:cNvSpPr>
            <a:spLocks noGrp="1"/>
          </p:cNvSpPr>
          <p:nvPr>
            <p:ph type="sldNum" sz="quarter" idx="5"/>
          </p:nvPr>
        </p:nvSpPr>
        <p:spPr/>
        <p:txBody>
          <a:bodyPr/>
          <a:lstStyle/>
          <a:p>
            <a:fld id="{6B1F7F43-53B9-412B-8C0F-FD465CEEA063}" type="slidenum">
              <a:rPr lang="en-GB" smtClean="0"/>
              <a:t>7</a:t>
            </a:fld>
            <a:endParaRPr lang="en-GB"/>
          </a:p>
        </p:txBody>
      </p:sp>
    </p:spTree>
    <p:extLst>
      <p:ext uri="{BB962C8B-B14F-4D97-AF65-F5344CB8AC3E}">
        <p14:creationId xmlns:p14="http://schemas.microsoft.com/office/powerpoint/2010/main" val="2619200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list references on each slide and/or list them at the end, ensure it is clear why each source is cited (and where)</a:t>
            </a:r>
          </a:p>
          <a:p>
            <a:r>
              <a:rPr lang="en-US" dirty="0"/>
              <a:t>E.g. don’t include a list here without context, can use a numbered list to refer back to slides.</a:t>
            </a:r>
          </a:p>
          <a:p>
            <a:r>
              <a:rPr lang="en-US" dirty="0"/>
              <a:t>There is no format you have to use, feel free to use your own but ensure any person can reasonably find which article you are referring to (e.g. “Johnson et al (2010) BMC Genomics” is not specific enough…)</a:t>
            </a:r>
            <a:endParaRPr lang="en-GB" dirty="0"/>
          </a:p>
        </p:txBody>
      </p:sp>
      <p:sp>
        <p:nvSpPr>
          <p:cNvPr id="4" name="Slide Number Placeholder 3"/>
          <p:cNvSpPr>
            <a:spLocks noGrp="1"/>
          </p:cNvSpPr>
          <p:nvPr>
            <p:ph type="sldNum" sz="quarter" idx="5"/>
          </p:nvPr>
        </p:nvSpPr>
        <p:spPr/>
        <p:txBody>
          <a:bodyPr/>
          <a:lstStyle/>
          <a:p>
            <a:fld id="{6B1F7F43-53B9-412B-8C0F-FD465CEEA063}" type="slidenum">
              <a:rPr lang="en-GB" smtClean="0"/>
              <a:t>8</a:t>
            </a:fld>
            <a:endParaRPr lang="en-GB"/>
          </a:p>
        </p:txBody>
      </p:sp>
    </p:spTree>
    <p:extLst>
      <p:ext uri="{BB962C8B-B14F-4D97-AF65-F5344CB8AC3E}">
        <p14:creationId xmlns:p14="http://schemas.microsoft.com/office/powerpoint/2010/main" val="436435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8B3F-BD82-40B3-8416-C53B8AC0E3E8}"/>
              </a:ext>
            </a:extLst>
          </p:cNvPr>
          <p:cNvSpPr>
            <a:spLocks noGrp="1"/>
          </p:cNvSpPr>
          <p:nvPr>
            <p:ph type="ctrTitle" hasCustomPrompt="1"/>
          </p:nvPr>
        </p:nvSpPr>
        <p:spPr>
          <a:xfrm>
            <a:off x="134112" y="554737"/>
            <a:ext cx="11929876" cy="2145792"/>
          </a:xfrm>
        </p:spPr>
        <p:txBody>
          <a:bodyPr anchor="b"/>
          <a:lstStyle>
            <a:lvl1pPr algn="ctr">
              <a:defRPr sz="6000"/>
            </a:lvl1pPr>
          </a:lstStyle>
          <a:p>
            <a:r>
              <a:rPr lang="en-US" dirty="0"/>
              <a:t>Add your title here</a:t>
            </a:r>
            <a:endParaRPr lang="en-GB" dirty="0"/>
          </a:p>
        </p:txBody>
      </p:sp>
      <p:sp>
        <p:nvSpPr>
          <p:cNvPr id="3" name="Subtitle 2">
            <a:extLst>
              <a:ext uri="{FF2B5EF4-FFF2-40B4-BE49-F238E27FC236}">
                <a16:creationId xmlns:a16="http://schemas.microsoft.com/office/drawing/2014/main" id="{A62AF355-D80E-41CB-9D0D-7955A251B178}"/>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here your first and last name, CID and course name</a:t>
            </a:r>
          </a:p>
        </p:txBody>
      </p:sp>
      <p:sp>
        <p:nvSpPr>
          <p:cNvPr id="5" name="Footer Placeholder 4">
            <a:extLst>
              <a:ext uri="{FF2B5EF4-FFF2-40B4-BE49-F238E27FC236}">
                <a16:creationId xmlns:a16="http://schemas.microsoft.com/office/drawing/2014/main" id="{C16137EA-8EA2-437E-A483-7F7518C3B61F}"/>
              </a:ext>
            </a:extLst>
          </p:cNvPr>
          <p:cNvSpPr>
            <a:spLocks noGrp="1"/>
          </p:cNvSpPr>
          <p:nvPr>
            <p:ph type="ftr" sz="quarter" idx="11"/>
          </p:nvPr>
        </p:nvSpPr>
        <p:spPr>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4598E2E8-5549-40A1-AB8C-7485DF5E7088}"/>
              </a:ext>
            </a:extLst>
          </p:cNvPr>
          <p:cNvSpPr>
            <a:spLocks noGrp="1"/>
          </p:cNvSpPr>
          <p:nvPr>
            <p:ph type="sldNum" sz="quarter" idx="12"/>
          </p:nvPr>
        </p:nvSpPr>
        <p:spPr>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3704089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3C5C-6FB1-40D9-9CB2-FE168821B1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31BF98B-1AC0-4AE6-B4B6-0FF626888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D829AA36-8F42-46DB-8870-AA8BDBB2E9EF}"/>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091BBC4D-D21E-4F6C-875C-8A2CD394FACF}"/>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3611933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2608-CE73-4281-83FE-522D50A6BA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2D77DF5-AB3B-45C6-92FC-8874A0654D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ooter Placeholder 4">
            <a:extLst>
              <a:ext uri="{FF2B5EF4-FFF2-40B4-BE49-F238E27FC236}">
                <a16:creationId xmlns:a16="http://schemas.microsoft.com/office/drawing/2014/main" id="{F7DB6BB4-E6B0-47D9-A4E1-A19206E3D1C3}"/>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8" name="Slide Number Placeholder 5">
            <a:extLst>
              <a:ext uri="{FF2B5EF4-FFF2-40B4-BE49-F238E27FC236}">
                <a16:creationId xmlns:a16="http://schemas.microsoft.com/office/drawing/2014/main" id="{B8A7BAC7-3186-4160-A796-CC33B36FBB20}"/>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1830783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4475-CF7D-481F-AC19-2A385460D32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40B494-ECB3-4E14-8507-4BCFDD8789D7}"/>
              </a:ext>
            </a:extLst>
          </p:cNvPr>
          <p:cNvSpPr>
            <a:spLocks noGrp="1"/>
          </p:cNvSpPr>
          <p:nvPr>
            <p:ph sz="half" idx="1"/>
          </p:nvPr>
        </p:nvSpPr>
        <p:spPr>
          <a:xfrm>
            <a:off x="128012" y="1282763"/>
            <a:ext cx="5891788" cy="48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8CB9DC1-D5BF-4BA4-B375-3761A2D7B8B6}"/>
              </a:ext>
            </a:extLst>
          </p:cNvPr>
          <p:cNvSpPr>
            <a:spLocks noGrp="1"/>
          </p:cNvSpPr>
          <p:nvPr>
            <p:ph sz="half" idx="2"/>
          </p:nvPr>
        </p:nvSpPr>
        <p:spPr>
          <a:xfrm>
            <a:off x="6172200" y="1282763"/>
            <a:ext cx="5891788" cy="4894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4">
            <a:extLst>
              <a:ext uri="{FF2B5EF4-FFF2-40B4-BE49-F238E27FC236}">
                <a16:creationId xmlns:a16="http://schemas.microsoft.com/office/drawing/2014/main" id="{2CD38DCF-CB44-4739-AAA8-5139D351A8F3}"/>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9" name="Slide Number Placeholder 5">
            <a:extLst>
              <a:ext uri="{FF2B5EF4-FFF2-40B4-BE49-F238E27FC236}">
                <a16:creationId xmlns:a16="http://schemas.microsoft.com/office/drawing/2014/main" id="{B564184B-0846-40C0-AD13-9D0CE91FAC4C}"/>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79780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091C967-3A26-4961-B7FF-5D6E85EAEA2E}"/>
              </a:ext>
            </a:extLst>
          </p:cNvPr>
          <p:cNvSpPr txBox="1">
            <a:spLocks/>
          </p:cNvSpPr>
          <p:nvPr userDrawn="1"/>
        </p:nvSpPr>
        <p:spPr>
          <a:xfrm>
            <a:off x="128012" y="136525"/>
            <a:ext cx="11935976" cy="9668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rgbClr val="067D8D"/>
                </a:solidFill>
                <a:latin typeface="+mj-lt"/>
                <a:ea typeface="+mj-ea"/>
                <a:cs typeface="+mj-cs"/>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16B42F3-64FF-4C34-B20D-4C593E59BC46}"/>
              </a:ext>
            </a:extLst>
          </p:cNvPr>
          <p:cNvSpPr>
            <a:spLocks noGrp="1"/>
          </p:cNvSpPr>
          <p:nvPr>
            <p:ph type="body" idx="1"/>
          </p:nvPr>
        </p:nvSpPr>
        <p:spPr>
          <a:xfrm>
            <a:off x="128012" y="1199579"/>
            <a:ext cx="586956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D6DFB22-6D5B-42A0-9ED2-624445C506A5}"/>
              </a:ext>
            </a:extLst>
          </p:cNvPr>
          <p:cNvSpPr>
            <a:spLocks noGrp="1"/>
          </p:cNvSpPr>
          <p:nvPr>
            <p:ph sz="half" idx="2"/>
          </p:nvPr>
        </p:nvSpPr>
        <p:spPr>
          <a:xfrm>
            <a:off x="128012" y="2119694"/>
            <a:ext cx="5869563" cy="4069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3B3B280-1E12-4A84-A556-92FD3A4C1C3E}"/>
              </a:ext>
            </a:extLst>
          </p:cNvPr>
          <p:cNvSpPr>
            <a:spLocks noGrp="1"/>
          </p:cNvSpPr>
          <p:nvPr>
            <p:ph type="body" sz="quarter" idx="3"/>
          </p:nvPr>
        </p:nvSpPr>
        <p:spPr>
          <a:xfrm>
            <a:off x="6172200" y="1199579"/>
            <a:ext cx="5891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F06CFD-E03E-4E1B-91FA-FB1B776580FB}"/>
              </a:ext>
            </a:extLst>
          </p:cNvPr>
          <p:cNvSpPr>
            <a:spLocks noGrp="1"/>
          </p:cNvSpPr>
          <p:nvPr>
            <p:ph sz="quarter" idx="4"/>
          </p:nvPr>
        </p:nvSpPr>
        <p:spPr>
          <a:xfrm>
            <a:off x="6172200" y="2119694"/>
            <a:ext cx="5891788" cy="4069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Footer Placeholder 4">
            <a:extLst>
              <a:ext uri="{FF2B5EF4-FFF2-40B4-BE49-F238E27FC236}">
                <a16:creationId xmlns:a16="http://schemas.microsoft.com/office/drawing/2014/main" id="{D641CD8F-5518-4B92-8430-D09FB4916378}"/>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12" name="Slide Number Placeholder 5">
            <a:extLst>
              <a:ext uri="{FF2B5EF4-FFF2-40B4-BE49-F238E27FC236}">
                <a16:creationId xmlns:a16="http://schemas.microsoft.com/office/drawing/2014/main" id="{11C9ADE8-B006-4141-9908-7E19F90D1C00}"/>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365313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11B38-EAD7-42D6-B968-4C2618FEFD98}"/>
              </a:ext>
            </a:extLst>
          </p:cNvPr>
          <p:cNvSpPr>
            <a:spLocks noGrp="1"/>
          </p:cNvSpPr>
          <p:nvPr>
            <p:ph type="title"/>
          </p:nvPr>
        </p:nvSpPr>
        <p:spPr/>
        <p:txBody>
          <a:bodyPr/>
          <a:lstStyle/>
          <a:p>
            <a:r>
              <a:rPr lang="en-US"/>
              <a:t>Click to edit Master title style</a:t>
            </a:r>
            <a:endParaRPr lang="en-GB"/>
          </a:p>
        </p:txBody>
      </p:sp>
      <p:sp>
        <p:nvSpPr>
          <p:cNvPr id="6" name="Footer Placeholder 4">
            <a:extLst>
              <a:ext uri="{FF2B5EF4-FFF2-40B4-BE49-F238E27FC236}">
                <a16:creationId xmlns:a16="http://schemas.microsoft.com/office/drawing/2014/main" id="{D1250F0E-43C6-44F2-8944-FAAFDDBC9F12}"/>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7" name="Slide Number Placeholder 5">
            <a:extLst>
              <a:ext uri="{FF2B5EF4-FFF2-40B4-BE49-F238E27FC236}">
                <a16:creationId xmlns:a16="http://schemas.microsoft.com/office/drawing/2014/main" id="{0AAF6408-BA5F-49B7-8384-78C5FF8FF284}"/>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3432560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5B5245C-4393-40E7-8F23-6D16624D9445}"/>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ACBA8739-AA21-4C57-A468-F90424A18885}"/>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445793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0E991-5C37-4CDC-A83D-484ACA9B72B5}"/>
              </a:ext>
            </a:extLst>
          </p:cNvPr>
          <p:cNvSpPr>
            <a:spLocks noGrp="1"/>
          </p:cNvSpPr>
          <p:nvPr>
            <p:ph type="title"/>
          </p:nvPr>
        </p:nvSpPr>
        <p:spPr>
          <a:xfrm>
            <a:off x="134112" y="136525"/>
            <a:ext cx="4637913" cy="19208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2187E53-C63B-490F-9567-9467E6F084A3}"/>
              </a:ext>
            </a:extLst>
          </p:cNvPr>
          <p:cNvSpPr>
            <a:spLocks noGrp="1"/>
          </p:cNvSpPr>
          <p:nvPr>
            <p:ph idx="1"/>
          </p:nvPr>
        </p:nvSpPr>
        <p:spPr>
          <a:xfrm>
            <a:off x="4913376" y="136525"/>
            <a:ext cx="7144512" cy="606310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593F76E-32CA-493E-B773-730437D4C12A}"/>
              </a:ext>
            </a:extLst>
          </p:cNvPr>
          <p:cNvSpPr>
            <a:spLocks noGrp="1"/>
          </p:cNvSpPr>
          <p:nvPr>
            <p:ph type="body" sz="half" idx="2"/>
          </p:nvPr>
        </p:nvSpPr>
        <p:spPr>
          <a:xfrm>
            <a:off x="134112" y="2057400"/>
            <a:ext cx="4637913" cy="41422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34303D10-4F47-4C8C-B14A-87F2D4DEF3CE}"/>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9" name="Slide Number Placeholder 5">
            <a:extLst>
              <a:ext uri="{FF2B5EF4-FFF2-40B4-BE49-F238E27FC236}">
                <a16:creationId xmlns:a16="http://schemas.microsoft.com/office/drawing/2014/main" id="{10ADE466-BF5B-44EF-9A2B-E219C2D8C322}"/>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291158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4314E-E15D-4619-BCB6-7CA5AB580005}"/>
              </a:ext>
            </a:extLst>
          </p:cNvPr>
          <p:cNvSpPr>
            <a:spLocks noGrp="1"/>
          </p:cNvSpPr>
          <p:nvPr>
            <p:ph type="title"/>
          </p:nvPr>
        </p:nvSpPr>
        <p:spPr>
          <a:xfrm>
            <a:off x="128016" y="136525"/>
            <a:ext cx="4644009" cy="19208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455FFE5-ACD1-41F7-B55E-087E76E602F9}"/>
              </a:ext>
            </a:extLst>
          </p:cNvPr>
          <p:cNvSpPr>
            <a:spLocks noGrp="1"/>
          </p:cNvSpPr>
          <p:nvPr>
            <p:ph type="pic" idx="1"/>
          </p:nvPr>
        </p:nvSpPr>
        <p:spPr>
          <a:xfrm>
            <a:off x="4913376" y="136525"/>
            <a:ext cx="7150608" cy="606310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C577D8-3C00-4891-97B9-783352FC65ED}"/>
              </a:ext>
            </a:extLst>
          </p:cNvPr>
          <p:cNvSpPr>
            <a:spLocks noGrp="1"/>
          </p:cNvSpPr>
          <p:nvPr>
            <p:ph type="body" sz="half" idx="2"/>
          </p:nvPr>
        </p:nvSpPr>
        <p:spPr>
          <a:xfrm>
            <a:off x="128016" y="2057400"/>
            <a:ext cx="4644009" cy="414223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498DABB2-05B2-4E03-A694-004F73E968C4}"/>
              </a:ext>
            </a:extLst>
          </p:cNvPr>
          <p:cNvSpPr>
            <a:spLocks noGrp="1"/>
          </p:cNvSpPr>
          <p:nvPr>
            <p:ph type="ftr" sz="quarter" idx="11"/>
          </p:nvPr>
        </p:nvSpPr>
        <p:spPr>
          <a:xfrm>
            <a:off x="609600" y="6356350"/>
            <a:ext cx="10966704" cy="365125"/>
          </a:xfrm>
          <a:prstGeom prst="rect">
            <a:avLst/>
          </a:prstGeom>
        </p:spPr>
        <p:txBody>
          <a:bodyPr/>
          <a:lstStyle/>
          <a:p>
            <a:endParaRPr lang="en-GB" dirty="0"/>
          </a:p>
        </p:txBody>
      </p:sp>
      <p:sp>
        <p:nvSpPr>
          <p:cNvPr id="9" name="Slide Number Placeholder 5">
            <a:extLst>
              <a:ext uri="{FF2B5EF4-FFF2-40B4-BE49-F238E27FC236}">
                <a16:creationId xmlns:a16="http://schemas.microsoft.com/office/drawing/2014/main" id="{875E1B86-893B-4A5B-A39E-94012A23CDDB}"/>
              </a:ext>
            </a:extLst>
          </p:cNvPr>
          <p:cNvSpPr>
            <a:spLocks noGrp="1"/>
          </p:cNvSpPr>
          <p:nvPr>
            <p:ph type="sldNum" sz="quarter" idx="12"/>
          </p:nvPr>
        </p:nvSpPr>
        <p:spPr>
          <a:xfrm>
            <a:off x="11698224" y="6356350"/>
            <a:ext cx="365764" cy="365125"/>
          </a:xfrm>
          <a:prstGeom prst="rect">
            <a:avLst/>
          </a:prstGeom>
        </p:spPr>
        <p:txBody>
          <a:bodyPr/>
          <a:lstStyle/>
          <a:p>
            <a:fld id="{7BABEAAC-62EC-4818-AEB1-30CB1FD7AAFF}" type="slidenum">
              <a:rPr lang="en-GB" smtClean="0"/>
              <a:t>‹#›</a:t>
            </a:fld>
            <a:endParaRPr lang="en-GB" dirty="0"/>
          </a:p>
        </p:txBody>
      </p:sp>
    </p:spTree>
    <p:extLst>
      <p:ext uri="{BB962C8B-B14F-4D97-AF65-F5344CB8AC3E}">
        <p14:creationId xmlns:p14="http://schemas.microsoft.com/office/powerpoint/2010/main" val="9494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A227C7-71EE-455D-9856-985B2F7D0828}"/>
              </a:ext>
            </a:extLst>
          </p:cNvPr>
          <p:cNvSpPr>
            <a:spLocks noGrp="1"/>
          </p:cNvSpPr>
          <p:nvPr>
            <p:ph type="title"/>
          </p:nvPr>
        </p:nvSpPr>
        <p:spPr>
          <a:xfrm>
            <a:off x="128012" y="136525"/>
            <a:ext cx="11935976" cy="966851"/>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A742421A-90AF-45AA-92F9-6684C5E62CE9}"/>
              </a:ext>
            </a:extLst>
          </p:cNvPr>
          <p:cNvSpPr>
            <a:spLocks noGrp="1"/>
          </p:cNvSpPr>
          <p:nvPr>
            <p:ph type="body" idx="1"/>
          </p:nvPr>
        </p:nvSpPr>
        <p:spPr>
          <a:xfrm>
            <a:off x="128012" y="1280160"/>
            <a:ext cx="11935976" cy="48968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F3C71D24-D60D-4DFB-A79F-2C4E569E8AF6}"/>
              </a:ext>
            </a:extLst>
          </p:cNvPr>
          <p:cNvSpPr>
            <a:spLocks noGrp="1"/>
          </p:cNvSpPr>
          <p:nvPr>
            <p:ph type="ftr" sz="quarter" idx="3"/>
          </p:nvPr>
        </p:nvSpPr>
        <p:spPr>
          <a:xfrm>
            <a:off x="609600" y="6356350"/>
            <a:ext cx="1096670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BBF0D9C9-7CD4-4786-B587-3AEBB6DFA409}"/>
              </a:ext>
            </a:extLst>
          </p:cNvPr>
          <p:cNvSpPr>
            <a:spLocks noGrp="1"/>
          </p:cNvSpPr>
          <p:nvPr>
            <p:ph type="sldNum" sz="quarter" idx="4"/>
          </p:nvPr>
        </p:nvSpPr>
        <p:spPr>
          <a:xfrm>
            <a:off x="11698224" y="6356350"/>
            <a:ext cx="36576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ABEAAC-62EC-4818-AEB1-30CB1FD7AAFF}" type="slidenum">
              <a:rPr lang="en-GB" smtClean="0"/>
              <a:t>‹#›</a:t>
            </a:fld>
            <a:endParaRPr lang="en-GB"/>
          </a:p>
        </p:txBody>
      </p:sp>
      <p:pic>
        <p:nvPicPr>
          <p:cNvPr id="12" name="Picture 11">
            <a:extLst>
              <a:ext uri="{FF2B5EF4-FFF2-40B4-BE49-F238E27FC236}">
                <a16:creationId xmlns:a16="http://schemas.microsoft.com/office/drawing/2014/main" id="{67C3ABA7-C9C2-4CF8-9F99-0BBDC8E3F5B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28012" y="6355711"/>
            <a:ext cx="365764" cy="365764"/>
          </a:xfrm>
          <a:prstGeom prst="rect">
            <a:avLst/>
          </a:prstGeom>
        </p:spPr>
      </p:pic>
    </p:spTree>
    <p:extLst>
      <p:ext uri="{BB962C8B-B14F-4D97-AF65-F5344CB8AC3E}">
        <p14:creationId xmlns:p14="http://schemas.microsoft.com/office/powerpoint/2010/main" val="130501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l" defTabSz="914400" rtl="0" eaLnBrk="1" latinLnBrk="0" hangingPunct="1">
        <a:lnSpc>
          <a:spcPct val="90000"/>
        </a:lnSpc>
        <a:spcBef>
          <a:spcPct val="0"/>
        </a:spcBef>
        <a:buNone/>
        <a:defRPr sz="4400" kern="1200">
          <a:solidFill>
            <a:srgbClr val="067D8D"/>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doi.org/10.1145/2939672.2939785" TargetMode="External"/><Relationship Id="rId3" Type="http://schemas.openxmlformats.org/officeDocument/2006/relationships/hyperlink" Target="https://doi.org/10.1038/s41586-020-2649-2" TargetMode="External"/><Relationship Id="rId7" Type="http://schemas.openxmlformats.org/officeDocument/2006/relationships/hyperlink" Target="https://doi.org/10.21105/joss.00861"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oi.org/10.21105/joss.03021" TargetMode="External"/><Relationship Id="rId5" Type="http://schemas.openxmlformats.org/officeDocument/2006/relationships/hyperlink" Target="https://doi.org/10.5281/zenodo.11201097" TargetMode="External"/><Relationship Id="rId4" Type="http://schemas.openxmlformats.org/officeDocument/2006/relationships/hyperlink" Target="https://doi.org/10.5281/zenodo.10957263" TargetMode="External"/><Relationship Id="rId9" Type="http://schemas.openxmlformats.org/officeDocument/2006/relationships/hyperlink" Target="https://github.com/Toblerity/Shapel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B88B7-1DFC-4A96-92BE-BBB85D221494}"/>
              </a:ext>
            </a:extLst>
          </p:cNvPr>
          <p:cNvSpPr>
            <a:spLocks noGrp="1"/>
          </p:cNvSpPr>
          <p:nvPr>
            <p:ph type="ctrTitle"/>
          </p:nvPr>
        </p:nvSpPr>
        <p:spPr>
          <a:xfrm>
            <a:off x="128014" y="1110170"/>
            <a:ext cx="11929876" cy="2145792"/>
          </a:xfrm>
        </p:spPr>
        <p:txBody>
          <a:bodyPr>
            <a:normAutofit fontScale="90000"/>
          </a:bodyPr>
          <a:lstStyle/>
          <a:p>
            <a:r>
              <a:rPr lang="en-GB" dirty="0"/>
              <a:t>Developing a Machine Learning Pipeline for Predicting IBD Types Using Metabolomics Data</a:t>
            </a:r>
          </a:p>
        </p:txBody>
      </p:sp>
      <p:sp>
        <p:nvSpPr>
          <p:cNvPr id="3" name="Subtitle 2">
            <a:extLst>
              <a:ext uri="{FF2B5EF4-FFF2-40B4-BE49-F238E27FC236}">
                <a16:creationId xmlns:a16="http://schemas.microsoft.com/office/drawing/2014/main" id="{F93C79ED-B181-462D-A5D0-CA01A10A2F60}"/>
              </a:ext>
            </a:extLst>
          </p:cNvPr>
          <p:cNvSpPr>
            <a:spLocks noGrp="1"/>
          </p:cNvSpPr>
          <p:nvPr>
            <p:ph type="subTitle" idx="1"/>
          </p:nvPr>
        </p:nvSpPr>
        <p:spPr>
          <a:xfrm>
            <a:off x="1520952" y="3807778"/>
            <a:ext cx="9144000" cy="1655762"/>
          </a:xfrm>
        </p:spPr>
        <p:txBody>
          <a:bodyPr/>
          <a:lstStyle/>
          <a:p>
            <a:r>
              <a:rPr lang="en-GB" dirty="0"/>
              <a:t>Yena An</a:t>
            </a:r>
          </a:p>
          <a:p>
            <a:r>
              <a:rPr lang="en-GB" dirty="0"/>
              <a:t>CID 02058047</a:t>
            </a:r>
          </a:p>
          <a:p>
            <a:r>
              <a:rPr lang="en-GB" dirty="0"/>
              <a:t>BIDS</a:t>
            </a:r>
          </a:p>
        </p:txBody>
      </p:sp>
      <p:sp>
        <p:nvSpPr>
          <p:cNvPr id="6" name="Footer Placeholder 5">
            <a:extLst>
              <a:ext uri="{FF2B5EF4-FFF2-40B4-BE49-F238E27FC236}">
                <a16:creationId xmlns:a16="http://schemas.microsoft.com/office/drawing/2014/main" id="{88447359-6D6D-4647-BC04-330BF92F907E}"/>
              </a:ext>
            </a:extLst>
          </p:cNvPr>
          <p:cNvSpPr>
            <a:spLocks noGrp="1"/>
          </p:cNvSpPr>
          <p:nvPr>
            <p:ph type="ftr" sz="quarter" idx="11"/>
          </p:nvPr>
        </p:nvSpPr>
        <p:spPr/>
        <p:txBody>
          <a:bodyPr/>
          <a:lstStyle/>
          <a:p>
            <a:r>
              <a:rPr lang="en-GB" dirty="0"/>
              <a:t>30 May 2024</a:t>
            </a:r>
          </a:p>
        </p:txBody>
      </p:sp>
    </p:spTree>
    <p:extLst>
      <p:ext uri="{BB962C8B-B14F-4D97-AF65-F5344CB8AC3E}">
        <p14:creationId xmlns:p14="http://schemas.microsoft.com/office/powerpoint/2010/main" val="1805135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E2790003-0D09-48B4-8FBA-D606ECD62293}"/>
              </a:ext>
            </a:extLst>
          </p:cNvPr>
          <p:cNvSpPr>
            <a:spLocks noGrp="1"/>
          </p:cNvSpPr>
          <p:nvPr>
            <p:ph type="title"/>
          </p:nvPr>
        </p:nvSpPr>
        <p:spPr/>
        <p:txBody>
          <a:bodyPr/>
          <a:lstStyle/>
          <a:p>
            <a:r>
              <a:rPr lang="en-US" dirty="0"/>
              <a:t>Methods – Explanatory data analysis</a:t>
            </a:r>
            <a:endParaRPr lang="en-GB" dirty="0"/>
          </a:p>
        </p:txBody>
      </p:sp>
      <p:sp>
        <p:nvSpPr>
          <p:cNvPr id="14" name="Content Placeholder 13">
            <a:extLst>
              <a:ext uri="{FF2B5EF4-FFF2-40B4-BE49-F238E27FC236}">
                <a16:creationId xmlns:a16="http://schemas.microsoft.com/office/drawing/2014/main" id="{5D24EC7C-3788-4270-90EA-7843D1FD018C}"/>
              </a:ext>
            </a:extLst>
          </p:cNvPr>
          <p:cNvSpPr>
            <a:spLocks noGrp="1"/>
          </p:cNvSpPr>
          <p:nvPr>
            <p:ph idx="1"/>
          </p:nvPr>
        </p:nvSpPr>
        <p:spPr>
          <a:xfrm>
            <a:off x="286330" y="1328801"/>
            <a:ext cx="3086100" cy="582930"/>
          </a:xfrm>
        </p:spPr>
        <p:txBody>
          <a:bodyPr>
            <a:normAutofit/>
          </a:bodyPr>
          <a:lstStyle/>
          <a:p>
            <a:pPr marL="0" indent="0" algn="ctr">
              <a:buNone/>
            </a:pPr>
            <a:r>
              <a:rPr lang="en-GB" dirty="0"/>
              <a:t>Training data set</a:t>
            </a:r>
            <a:endParaRPr lang="en-US" dirty="0"/>
          </a:p>
          <a:p>
            <a:pPr algn="ctr"/>
            <a:endParaRPr lang="en-US" dirty="0"/>
          </a:p>
          <a:p>
            <a:pPr algn="ctr"/>
            <a:endParaRPr lang="en-US" dirty="0"/>
          </a:p>
        </p:txBody>
      </p:sp>
      <p:sp>
        <p:nvSpPr>
          <p:cNvPr id="10" name="Slide Number Placeholder 9">
            <a:extLst>
              <a:ext uri="{FF2B5EF4-FFF2-40B4-BE49-F238E27FC236}">
                <a16:creationId xmlns:a16="http://schemas.microsoft.com/office/drawing/2014/main" id="{2D73F3D0-5151-4ED6-B5FD-C72501E7D39C}"/>
              </a:ext>
            </a:extLst>
          </p:cNvPr>
          <p:cNvSpPr>
            <a:spLocks noGrp="1"/>
          </p:cNvSpPr>
          <p:nvPr>
            <p:ph type="sldNum" sz="quarter" idx="12"/>
          </p:nvPr>
        </p:nvSpPr>
        <p:spPr/>
        <p:txBody>
          <a:bodyPr/>
          <a:lstStyle/>
          <a:p>
            <a:fld id="{7BABEAAC-62EC-4818-AEB1-30CB1FD7AAFF}" type="slidenum">
              <a:rPr lang="en-GB" smtClean="0"/>
              <a:t>2</a:t>
            </a:fld>
            <a:endParaRPr lang="en-GB" dirty="0"/>
          </a:p>
        </p:txBody>
      </p:sp>
      <p:sp>
        <p:nvSpPr>
          <p:cNvPr id="2" name="Rectangle 1">
            <a:extLst>
              <a:ext uri="{FF2B5EF4-FFF2-40B4-BE49-F238E27FC236}">
                <a16:creationId xmlns:a16="http://schemas.microsoft.com/office/drawing/2014/main" id="{E5358DCE-9011-2A00-BE09-279FE3F31ADC}"/>
              </a:ext>
            </a:extLst>
          </p:cNvPr>
          <p:cNvSpPr/>
          <p:nvPr/>
        </p:nvSpPr>
        <p:spPr>
          <a:xfrm>
            <a:off x="286330" y="1911731"/>
            <a:ext cx="3086100" cy="2628900"/>
          </a:xfrm>
          <a:prstGeom prst="rect">
            <a:avLst/>
          </a:prstGeom>
          <a:ln w="190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cxnSp>
        <p:nvCxnSpPr>
          <p:cNvPr id="8" name="Straight Arrow Connector 7">
            <a:extLst>
              <a:ext uri="{FF2B5EF4-FFF2-40B4-BE49-F238E27FC236}">
                <a16:creationId xmlns:a16="http://schemas.microsoft.com/office/drawing/2014/main" id="{C39B3A8C-E1D1-ED35-D461-ECE03564900F}"/>
              </a:ext>
            </a:extLst>
          </p:cNvPr>
          <p:cNvCxnSpPr>
            <a:cxnSpLocks/>
          </p:cNvCxnSpPr>
          <p:nvPr/>
        </p:nvCxnSpPr>
        <p:spPr>
          <a:xfrm rot="16200000">
            <a:off x="1920628" y="3226181"/>
            <a:ext cx="2345432" cy="0"/>
          </a:xfrm>
          <a:prstGeom prst="straightConnector1">
            <a:avLst/>
          </a:prstGeom>
          <a:ln w="28575">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BEE8676-66EF-E35E-E1DC-B424F277FD33}"/>
              </a:ext>
            </a:extLst>
          </p:cNvPr>
          <p:cNvCxnSpPr>
            <a:cxnSpLocks/>
          </p:cNvCxnSpPr>
          <p:nvPr/>
        </p:nvCxnSpPr>
        <p:spPr>
          <a:xfrm rot="10800000">
            <a:off x="468827" y="2084195"/>
            <a:ext cx="2345432" cy="0"/>
          </a:xfrm>
          <a:prstGeom prst="straightConnector1">
            <a:avLst/>
          </a:prstGeom>
          <a:ln w="28575">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Content Placeholder 13">
            <a:extLst>
              <a:ext uri="{FF2B5EF4-FFF2-40B4-BE49-F238E27FC236}">
                <a16:creationId xmlns:a16="http://schemas.microsoft.com/office/drawing/2014/main" id="{1EECEC20-DB63-D97F-5C6D-29A744C684CE}"/>
              </a:ext>
            </a:extLst>
          </p:cNvPr>
          <p:cNvSpPr txBox="1">
            <a:spLocks/>
          </p:cNvSpPr>
          <p:nvPr/>
        </p:nvSpPr>
        <p:spPr>
          <a:xfrm>
            <a:off x="597987" y="2179448"/>
            <a:ext cx="2087109" cy="10695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GB" sz="2000" dirty="0"/>
              <a:t>528 Variables</a:t>
            </a:r>
          </a:p>
          <a:p>
            <a:pPr marL="0" indent="0" algn="ctr">
              <a:lnSpc>
                <a:spcPct val="100000"/>
              </a:lnSpc>
              <a:buFont typeface="Arial" panose="020B0604020202020204" pitchFamily="34" charset="0"/>
              <a:buNone/>
            </a:pPr>
            <a:r>
              <a:rPr lang="en-GB" sz="2000" dirty="0"/>
              <a:t>(522 Metabolites)</a:t>
            </a:r>
            <a:endParaRPr lang="en-US" sz="2000" dirty="0"/>
          </a:p>
          <a:p>
            <a:pPr algn="ctr">
              <a:lnSpc>
                <a:spcPct val="100000"/>
              </a:lnSpc>
            </a:pPr>
            <a:endParaRPr lang="en-US" sz="2000" dirty="0"/>
          </a:p>
        </p:txBody>
      </p:sp>
      <p:sp>
        <p:nvSpPr>
          <p:cNvPr id="15" name="Content Placeholder 13">
            <a:extLst>
              <a:ext uri="{FF2B5EF4-FFF2-40B4-BE49-F238E27FC236}">
                <a16:creationId xmlns:a16="http://schemas.microsoft.com/office/drawing/2014/main" id="{5297E203-303D-E564-67C5-AAC6CFA76116}"/>
              </a:ext>
            </a:extLst>
          </p:cNvPr>
          <p:cNvSpPr txBox="1">
            <a:spLocks/>
          </p:cNvSpPr>
          <p:nvPr/>
        </p:nvSpPr>
        <p:spPr>
          <a:xfrm>
            <a:off x="1821744" y="3390772"/>
            <a:ext cx="1190999" cy="8652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GB" sz="2000" dirty="0"/>
              <a:t>424 Samples</a:t>
            </a:r>
            <a:endParaRPr lang="en-US" sz="2000" dirty="0"/>
          </a:p>
          <a:p>
            <a:pPr algn="r"/>
            <a:endParaRPr lang="en-US" sz="2000" dirty="0"/>
          </a:p>
        </p:txBody>
      </p:sp>
      <p:sp>
        <p:nvSpPr>
          <p:cNvPr id="16" name="Content Placeholder 13">
            <a:extLst>
              <a:ext uri="{FF2B5EF4-FFF2-40B4-BE49-F238E27FC236}">
                <a16:creationId xmlns:a16="http://schemas.microsoft.com/office/drawing/2014/main" id="{E4AC9143-D2CC-F41D-67E3-87D15E9A9EA3}"/>
              </a:ext>
            </a:extLst>
          </p:cNvPr>
          <p:cNvSpPr txBox="1">
            <a:spLocks/>
          </p:cNvSpPr>
          <p:nvPr/>
        </p:nvSpPr>
        <p:spPr>
          <a:xfrm>
            <a:off x="262699" y="4635883"/>
            <a:ext cx="3109732" cy="1627374"/>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Font typeface="Arial" panose="020B0604020202020204" pitchFamily="34" charset="0"/>
              <a:buNone/>
            </a:pPr>
            <a:r>
              <a:rPr lang="en-GB" sz="4000" dirty="0"/>
              <a:t>6 Meta data columns → .</a:t>
            </a:r>
            <a:r>
              <a:rPr lang="en-GB" sz="4000" dirty="0" err="1"/>
              <a:t>iloc</a:t>
            </a:r>
            <a:r>
              <a:rPr lang="en-GB" sz="4000" dirty="0"/>
              <a:t>[:, 6:]</a:t>
            </a:r>
          </a:p>
          <a:p>
            <a:pPr>
              <a:lnSpc>
                <a:spcPct val="110000"/>
              </a:lnSpc>
            </a:pPr>
            <a:r>
              <a:rPr lang="en-GB" sz="2900" dirty="0"/>
              <a:t>PID</a:t>
            </a:r>
          </a:p>
          <a:p>
            <a:pPr>
              <a:lnSpc>
                <a:spcPct val="110000"/>
              </a:lnSpc>
            </a:pPr>
            <a:r>
              <a:rPr lang="en-GB" sz="2900" dirty="0"/>
              <a:t>group (numeric), </a:t>
            </a:r>
            <a:r>
              <a:rPr lang="en-GB" sz="2900" dirty="0" err="1"/>
              <a:t>group_ab</a:t>
            </a:r>
            <a:r>
              <a:rPr lang="en-GB" sz="2900" dirty="0"/>
              <a:t> (text)</a:t>
            </a:r>
          </a:p>
          <a:p>
            <a:pPr>
              <a:lnSpc>
                <a:spcPct val="110000"/>
              </a:lnSpc>
            </a:pPr>
            <a:r>
              <a:rPr lang="en-GB" sz="2900" dirty="0"/>
              <a:t>sex, </a:t>
            </a:r>
            <a:r>
              <a:rPr lang="en-GB" sz="2900" dirty="0" err="1"/>
              <a:t>antibiotics_use</a:t>
            </a:r>
            <a:endParaRPr lang="en-GB" sz="2900" dirty="0"/>
          </a:p>
          <a:p>
            <a:pPr>
              <a:lnSpc>
                <a:spcPct val="110000"/>
              </a:lnSpc>
            </a:pPr>
            <a:r>
              <a:rPr lang="en-GB" sz="2900" dirty="0" err="1"/>
              <a:t>years_since_diagnosis</a:t>
            </a:r>
            <a:endParaRPr lang="en-US" sz="2900" dirty="0"/>
          </a:p>
          <a:p>
            <a:pPr marL="0" indent="0">
              <a:buNone/>
            </a:pPr>
            <a:endParaRPr lang="en-US" dirty="0"/>
          </a:p>
        </p:txBody>
      </p:sp>
      <p:sp>
        <p:nvSpPr>
          <p:cNvPr id="28" name="Content Placeholder 13">
            <a:extLst>
              <a:ext uri="{FF2B5EF4-FFF2-40B4-BE49-F238E27FC236}">
                <a16:creationId xmlns:a16="http://schemas.microsoft.com/office/drawing/2014/main" id="{C9EE5D6F-8E33-7E75-92B3-E1F807036C39}"/>
              </a:ext>
            </a:extLst>
          </p:cNvPr>
          <p:cNvSpPr txBox="1">
            <a:spLocks/>
          </p:cNvSpPr>
          <p:nvPr/>
        </p:nvSpPr>
        <p:spPr>
          <a:xfrm>
            <a:off x="4243604" y="1326833"/>
            <a:ext cx="3293912" cy="44053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1. Correlation matrix</a:t>
            </a:r>
            <a:endParaRPr lang="en-US" dirty="0"/>
          </a:p>
          <a:p>
            <a:endParaRPr lang="en-US" dirty="0"/>
          </a:p>
          <a:p>
            <a:endParaRPr lang="en-US" dirty="0"/>
          </a:p>
        </p:txBody>
      </p:sp>
      <p:sp>
        <p:nvSpPr>
          <p:cNvPr id="29" name="Content Placeholder 13">
            <a:extLst>
              <a:ext uri="{FF2B5EF4-FFF2-40B4-BE49-F238E27FC236}">
                <a16:creationId xmlns:a16="http://schemas.microsoft.com/office/drawing/2014/main" id="{00E97FFB-4B91-B88F-8F23-C3A40B6B965E}"/>
              </a:ext>
            </a:extLst>
          </p:cNvPr>
          <p:cNvSpPr txBox="1">
            <a:spLocks/>
          </p:cNvSpPr>
          <p:nvPr/>
        </p:nvSpPr>
        <p:spPr>
          <a:xfrm>
            <a:off x="8412547" y="1326833"/>
            <a:ext cx="3293912" cy="5829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2. Outlier detection</a:t>
            </a:r>
            <a:endParaRPr lang="en-US" dirty="0"/>
          </a:p>
          <a:p>
            <a:pPr algn="ctr"/>
            <a:endParaRPr lang="en-US" dirty="0"/>
          </a:p>
          <a:p>
            <a:pPr algn="ctr"/>
            <a:endParaRPr lang="en-US" dirty="0"/>
          </a:p>
        </p:txBody>
      </p:sp>
      <p:sp>
        <p:nvSpPr>
          <p:cNvPr id="37" name="Content Placeholder 13">
            <a:extLst>
              <a:ext uri="{FF2B5EF4-FFF2-40B4-BE49-F238E27FC236}">
                <a16:creationId xmlns:a16="http://schemas.microsoft.com/office/drawing/2014/main" id="{D6F8CC2D-E327-82F0-0494-9548D728036D}"/>
              </a:ext>
            </a:extLst>
          </p:cNvPr>
          <p:cNvSpPr txBox="1">
            <a:spLocks/>
          </p:cNvSpPr>
          <p:nvPr/>
        </p:nvSpPr>
        <p:spPr>
          <a:xfrm>
            <a:off x="3606153" y="5621945"/>
            <a:ext cx="4568815" cy="4212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GB" sz="2000" dirty="0"/>
              <a:t>91.1% of correlation coefficients &lt; 0.2</a:t>
            </a:r>
            <a:endParaRPr lang="en-US" sz="2000" dirty="0"/>
          </a:p>
        </p:txBody>
      </p:sp>
      <p:sp>
        <p:nvSpPr>
          <p:cNvPr id="38" name="Content Placeholder 13">
            <a:extLst>
              <a:ext uri="{FF2B5EF4-FFF2-40B4-BE49-F238E27FC236}">
                <a16:creationId xmlns:a16="http://schemas.microsoft.com/office/drawing/2014/main" id="{F7AB45D1-81F2-CEB7-2D63-A4DA2DDFFD55}"/>
              </a:ext>
            </a:extLst>
          </p:cNvPr>
          <p:cNvSpPr txBox="1">
            <a:spLocks/>
          </p:cNvSpPr>
          <p:nvPr/>
        </p:nvSpPr>
        <p:spPr>
          <a:xfrm>
            <a:off x="8231854" y="1841712"/>
            <a:ext cx="3655299" cy="9003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GB" sz="2000" dirty="0"/>
              <a:t>475 variables have &gt; 20 outliers</a:t>
            </a:r>
          </a:p>
          <a:p>
            <a:pPr marL="0" indent="0" algn="ctr">
              <a:lnSpc>
                <a:spcPct val="100000"/>
              </a:lnSpc>
              <a:buNone/>
            </a:pPr>
            <a:r>
              <a:rPr lang="en-GB" sz="2000" dirty="0"/>
              <a:t>282 variables have &gt; 40 outliers</a:t>
            </a:r>
          </a:p>
        </p:txBody>
      </p:sp>
      <p:sp>
        <p:nvSpPr>
          <p:cNvPr id="57" name="Content Placeholder 13">
            <a:extLst>
              <a:ext uri="{FF2B5EF4-FFF2-40B4-BE49-F238E27FC236}">
                <a16:creationId xmlns:a16="http://schemas.microsoft.com/office/drawing/2014/main" id="{72BF6058-C22B-5DF3-FA61-7FACDCDCCB31}"/>
              </a:ext>
            </a:extLst>
          </p:cNvPr>
          <p:cNvSpPr txBox="1">
            <a:spLocks/>
          </p:cNvSpPr>
          <p:nvPr/>
        </p:nvSpPr>
        <p:spPr>
          <a:xfrm>
            <a:off x="3063288" y="6108776"/>
            <a:ext cx="5654544" cy="44053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b="1" dirty="0">
                <a:solidFill>
                  <a:srgbClr val="C00000"/>
                </a:solidFill>
              </a:rPr>
              <a:t>“Non-linear”</a:t>
            </a:r>
            <a:endParaRPr lang="en-US" b="1" dirty="0">
              <a:solidFill>
                <a:srgbClr val="C00000"/>
              </a:solidFill>
            </a:endParaRPr>
          </a:p>
          <a:p>
            <a:endParaRPr lang="en-US" b="1" dirty="0">
              <a:solidFill>
                <a:srgbClr val="C00000"/>
              </a:solidFill>
            </a:endParaRPr>
          </a:p>
          <a:p>
            <a:endParaRPr lang="en-US" b="1" dirty="0">
              <a:solidFill>
                <a:srgbClr val="C00000"/>
              </a:solidFill>
            </a:endParaRPr>
          </a:p>
        </p:txBody>
      </p:sp>
      <p:grpSp>
        <p:nvGrpSpPr>
          <p:cNvPr id="6" name="Group 5">
            <a:extLst>
              <a:ext uri="{FF2B5EF4-FFF2-40B4-BE49-F238E27FC236}">
                <a16:creationId xmlns:a16="http://schemas.microsoft.com/office/drawing/2014/main" id="{381C2F57-2DC5-A255-72CF-E3291C46096D}"/>
              </a:ext>
            </a:extLst>
          </p:cNvPr>
          <p:cNvGrpSpPr/>
          <p:nvPr/>
        </p:nvGrpSpPr>
        <p:grpSpPr>
          <a:xfrm>
            <a:off x="3673285" y="1836617"/>
            <a:ext cx="4434551" cy="3685422"/>
            <a:chOff x="3780677" y="1911731"/>
            <a:chExt cx="4434551" cy="3685422"/>
          </a:xfrm>
        </p:grpSpPr>
        <p:pic>
          <p:nvPicPr>
            <p:cNvPr id="25" name="Picture 24">
              <a:extLst>
                <a:ext uri="{FF2B5EF4-FFF2-40B4-BE49-F238E27FC236}">
                  <a16:creationId xmlns:a16="http://schemas.microsoft.com/office/drawing/2014/main" id="{50A5AABA-0F4D-EFB8-DF9E-8232F2E58C0A}"/>
                </a:ext>
              </a:extLst>
            </p:cNvPr>
            <p:cNvPicPr>
              <a:picLocks noChangeAspect="1"/>
            </p:cNvPicPr>
            <p:nvPr/>
          </p:nvPicPr>
          <p:blipFill rotWithShape="1">
            <a:blip r:embed="rId3"/>
            <a:srcRect l="1992" r="1"/>
            <a:stretch/>
          </p:blipFill>
          <p:spPr>
            <a:xfrm>
              <a:off x="3780677" y="1911731"/>
              <a:ext cx="4051475" cy="2999302"/>
            </a:xfrm>
            <a:prstGeom prst="rect">
              <a:avLst/>
            </a:prstGeom>
          </p:spPr>
        </p:pic>
        <p:sp>
          <p:nvSpPr>
            <p:cNvPr id="4" name="Content Placeholder 13">
              <a:extLst>
                <a:ext uri="{FF2B5EF4-FFF2-40B4-BE49-F238E27FC236}">
                  <a16:creationId xmlns:a16="http://schemas.microsoft.com/office/drawing/2014/main" id="{99AD439E-2607-5BD6-51DA-1C1F23039DC0}"/>
                </a:ext>
              </a:extLst>
            </p:cNvPr>
            <p:cNvSpPr txBox="1">
              <a:spLocks/>
            </p:cNvSpPr>
            <p:nvPr/>
          </p:nvSpPr>
          <p:spPr>
            <a:xfrm>
              <a:off x="4025520" y="4976819"/>
              <a:ext cx="4189708" cy="6203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1200" b="1" dirty="0">
                  <a:cs typeface="Arial" panose="020B0604020202020204" pitchFamily="34" charset="0"/>
                </a:rPr>
                <a:t>Figure 1. Heatmap visualising the correlation coefficients between metabolites. </a:t>
              </a:r>
              <a:r>
                <a:rPr lang="en-GB" sz="1200" dirty="0">
                  <a:cs typeface="Arial" panose="020B0604020202020204" pitchFamily="34" charset="0"/>
                </a:rPr>
                <a:t>The scale ranges from -1 (strong negative correlation, red) to 1 (strong positive correlation, blue). </a:t>
              </a:r>
              <a:endParaRPr lang="en-US" sz="1200" dirty="0">
                <a:cs typeface="Arial" panose="020B0604020202020204" pitchFamily="34" charset="0"/>
              </a:endParaRPr>
            </a:p>
          </p:txBody>
        </p:sp>
      </p:grpSp>
      <p:grpSp>
        <p:nvGrpSpPr>
          <p:cNvPr id="7" name="Group 6">
            <a:extLst>
              <a:ext uri="{FF2B5EF4-FFF2-40B4-BE49-F238E27FC236}">
                <a16:creationId xmlns:a16="http://schemas.microsoft.com/office/drawing/2014/main" id="{59DE489B-652C-D9C8-B7B4-10A1183714CB}"/>
              </a:ext>
            </a:extLst>
          </p:cNvPr>
          <p:cNvGrpSpPr/>
          <p:nvPr/>
        </p:nvGrpSpPr>
        <p:grpSpPr>
          <a:xfrm>
            <a:off x="8055019" y="2880915"/>
            <a:ext cx="4008969" cy="2899847"/>
            <a:chOff x="8055019" y="2880915"/>
            <a:chExt cx="4008969" cy="2899847"/>
          </a:xfrm>
        </p:grpSpPr>
        <p:grpSp>
          <p:nvGrpSpPr>
            <p:cNvPr id="3" name="Group 2">
              <a:extLst>
                <a:ext uri="{FF2B5EF4-FFF2-40B4-BE49-F238E27FC236}">
                  <a16:creationId xmlns:a16="http://schemas.microsoft.com/office/drawing/2014/main" id="{4BF867C7-CD46-1138-8BF7-FFD73662B252}"/>
                </a:ext>
              </a:extLst>
            </p:cNvPr>
            <p:cNvGrpSpPr/>
            <p:nvPr/>
          </p:nvGrpSpPr>
          <p:grpSpPr>
            <a:xfrm>
              <a:off x="8055019" y="2880915"/>
              <a:ext cx="3870107" cy="2635156"/>
              <a:chOff x="8055019" y="2880915"/>
              <a:chExt cx="3870107" cy="2635156"/>
            </a:xfrm>
          </p:grpSpPr>
          <p:sp>
            <p:nvSpPr>
              <p:cNvPr id="32" name="Content Placeholder 13">
                <a:extLst>
                  <a:ext uri="{FF2B5EF4-FFF2-40B4-BE49-F238E27FC236}">
                    <a16:creationId xmlns:a16="http://schemas.microsoft.com/office/drawing/2014/main" id="{9A3ABB2E-A8E3-3B90-5CA1-7228DD90CBB2}"/>
                  </a:ext>
                </a:extLst>
              </p:cNvPr>
              <p:cNvSpPr txBox="1">
                <a:spLocks/>
              </p:cNvSpPr>
              <p:nvPr/>
            </p:nvSpPr>
            <p:spPr>
              <a:xfrm>
                <a:off x="8343738" y="2880915"/>
                <a:ext cx="3293912" cy="5829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3. Histogram </a:t>
                </a:r>
                <a:endParaRPr lang="en-US" dirty="0"/>
              </a:p>
              <a:p>
                <a:pPr algn="ctr"/>
                <a:endParaRPr lang="en-US" dirty="0"/>
              </a:p>
              <a:p>
                <a:pPr algn="ctr"/>
                <a:endParaRPr lang="en-US" dirty="0"/>
              </a:p>
            </p:txBody>
          </p:sp>
          <p:pic>
            <p:nvPicPr>
              <p:cNvPr id="36" name="Picture 35">
                <a:extLst>
                  <a:ext uri="{FF2B5EF4-FFF2-40B4-BE49-F238E27FC236}">
                    <a16:creationId xmlns:a16="http://schemas.microsoft.com/office/drawing/2014/main" id="{6A26EB10-20A1-05C3-5D4E-B8CE3AD3597A}"/>
                  </a:ext>
                </a:extLst>
              </p:cNvPr>
              <p:cNvPicPr>
                <a:picLocks noChangeAspect="1"/>
              </p:cNvPicPr>
              <p:nvPr/>
            </p:nvPicPr>
            <p:blipFill rotWithShape="1">
              <a:blip r:embed="rId4"/>
              <a:srcRect l="3679" t="2089"/>
              <a:stretch/>
            </p:blipFill>
            <p:spPr>
              <a:xfrm>
                <a:off x="8055019" y="3424681"/>
                <a:ext cx="3870107" cy="1115950"/>
              </a:xfrm>
              <a:prstGeom prst="rect">
                <a:avLst/>
              </a:prstGeom>
            </p:spPr>
          </p:pic>
          <p:cxnSp>
            <p:nvCxnSpPr>
              <p:cNvPr id="40" name="Straight Connector 39">
                <a:extLst>
                  <a:ext uri="{FF2B5EF4-FFF2-40B4-BE49-F238E27FC236}">
                    <a16:creationId xmlns:a16="http://schemas.microsoft.com/office/drawing/2014/main" id="{001416C9-1109-E41E-3BB7-BA2FA30A6614}"/>
                  </a:ext>
                </a:extLst>
              </p:cNvPr>
              <p:cNvCxnSpPr>
                <a:cxnSpLocks/>
              </p:cNvCxnSpPr>
              <p:nvPr/>
            </p:nvCxnSpPr>
            <p:spPr>
              <a:xfrm>
                <a:off x="8489699" y="4398897"/>
                <a:ext cx="206538" cy="10306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781A2F7-B9D9-5336-B76A-52E805B2E5C8}"/>
                  </a:ext>
                </a:extLst>
              </p:cNvPr>
              <p:cNvCxnSpPr>
                <a:cxnSpLocks/>
              </p:cNvCxnSpPr>
              <p:nvPr/>
            </p:nvCxnSpPr>
            <p:spPr>
              <a:xfrm>
                <a:off x="8489699" y="3575688"/>
                <a:ext cx="1741425" cy="582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2DEBDB51-4F1A-EC31-AE7E-44C9620E3E54}"/>
                  </a:ext>
                </a:extLst>
              </p:cNvPr>
              <p:cNvSpPr/>
              <p:nvPr/>
            </p:nvSpPr>
            <p:spPr>
              <a:xfrm>
                <a:off x="8696238" y="4158618"/>
                <a:ext cx="1534886" cy="135745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8" name="Picture 47">
                <a:extLst>
                  <a:ext uri="{FF2B5EF4-FFF2-40B4-BE49-F238E27FC236}">
                    <a16:creationId xmlns:a16="http://schemas.microsoft.com/office/drawing/2014/main" id="{255F2047-E3C0-98B7-5ACE-D73B39137619}"/>
                  </a:ext>
                </a:extLst>
              </p:cNvPr>
              <p:cNvPicPr>
                <a:picLocks noChangeAspect="1"/>
              </p:cNvPicPr>
              <p:nvPr/>
            </p:nvPicPr>
            <p:blipFill rotWithShape="1">
              <a:blip r:embed="rId4"/>
              <a:srcRect l="11573" t="13043" r="63260" b="7343"/>
              <a:stretch/>
            </p:blipFill>
            <p:spPr>
              <a:xfrm>
                <a:off x="8720610" y="4174660"/>
                <a:ext cx="1483200" cy="1330778"/>
              </a:xfrm>
              <a:prstGeom prst="rect">
                <a:avLst/>
              </a:prstGeom>
            </p:spPr>
          </p:pic>
        </p:grpSp>
        <p:sp>
          <p:nvSpPr>
            <p:cNvPr id="5" name="Content Placeholder 13">
              <a:extLst>
                <a:ext uri="{FF2B5EF4-FFF2-40B4-BE49-F238E27FC236}">
                  <a16:creationId xmlns:a16="http://schemas.microsoft.com/office/drawing/2014/main" id="{D6A5BBCD-2CF7-05A0-79E5-698C93725BB6}"/>
                </a:ext>
              </a:extLst>
            </p:cNvPr>
            <p:cNvSpPr txBox="1">
              <a:spLocks/>
            </p:cNvSpPr>
            <p:nvPr/>
          </p:nvSpPr>
          <p:spPr>
            <a:xfrm>
              <a:off x="10264427" y="4526362"/>
              <a:ext cx="1799561" cy="1254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200" b="1" dirty="0">
                  <a:cs typeface="Arial" panose="020B0604020202020204" pitchFamily="34" charset="0"/>
                </a:rPr>
                <a:t>Figure 2. Histogram depicting the distribution of 1,3,7-Trimethylurate. </a:t>
              </a:r>
              <a:r>
                <a:rPr lang="en-GB" sz="1200" dirty="0">
                  <a:cs typeface="Arial" panose="020B0604020202020204" pitchFamily="34" charset="0"/>
                </a:rPr>
                <a:t>Plot shows a highly skewed distribution with a long tail.</a:t>
              </a:r>
              <a:endParaRPr lang="en-US" sz="1200" dirty="0">
                <a:cs typeface="Arial" panose="020B0604020202020204" pitchFamily="34" charset="0"/>
              </a:endParaRPr>
            </a:p>
          </p:txBody>
        </p:sp>
      </p:grpSp>
      <p:sp>
        <p:nvSpPr>
          <p:cNvPr id="17" name="TextBox 16">
            <a:extLst>
              <a:ext uri="{FF2B5EF4-FFF2-40B4-BE49-F238E27FC236}">
                <a16:creationId xmlns:a16="http://schemas.microsoft.com/office/drawing/2014/main" id="{896F3CD6-B343-1348-283E-DC7F53AB0F9B}"/>
              </a:ext>
            </a:extLst>
          </p:cNvPr>
          <p:cNvSpPr txBox="1"/>
          <p:nvPr/>
        </p:nvSpPr>
        <p:spPr>
          <a:xfrm>
            <a:off x="8231854" y="5771010"/>
            <a:ext cx="3964659" cy="492443"/>
          </a:xfrm>
          <a:prstGeom prst="rect">
            <a:avLst/>
          </a:prstGeom>
          <a:noFill/>
        </p:spPr>
        <p:txBody>
          <a:bodyPr wrap="square">
            <a:spAutoFit/>
          </a:bodyPr>
          <a:lstStyle/>
          <a:p>
            <a:pPr algn="ctr"/>
            <a:r>
              <a:rPr lang="en-GB" sz="2600" b="1" dirty="0">
                <a:solidFill>
                  <a:srgbClr val="C00000"/>
                </a:solidFill>
              </a:rPr>
              <a:t> “Not normally distributed”</a:t>
            </a:r>
            <a:endParaRPr lang="en-GB" sz="2600" dirty="0"/>
          </a:p>
        </p:txBody>
      </p:sp>
    </p:spTree>
    <p:extLst>
      <p:ext uri="{BB962C8B-B14F-4D97-AF65-F5344CB8AC3E}">
        <p14:creationId xmlns:p14="http://schemas.microsoft.com/office/powerpoint/2010/main" val="6445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2" grpId="0" animBg="1"/>
      <p:bldP spid="13" grpId="0"/>
      <p:bldP spid="15" grpId="0"/>
      <p:bldP spid="16" grpId="0"/>
      <p:bldP spid="28" grpId="0"/>
      <p:bldP spid="29" grpId="0"/>
      <p:bldP spid="37" grpId="0"/>
      <p:bldP spid="38" grpId="0"/>
      <p:bldP spid="57"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4AABC-C6D8-4E8C-8872-62DAB8E63611}"/>
              </a:ext>
            </a:extLst>
          </p:cNvPr>
          <p:cNvSpPr>
            <a:spLocks noGrp="1"/>
          </p:cNvSpPr>
          <p:nvPr>
            <p:ph type="title"/>
          </p:nvPr>
        </p:nvSpPr>
        <p:spPr/>
        <p:txBody>
          <a:bodyPr/>
          <a:lstStyle/>
          <a:p>
            <a:r>
              <a:rPr lang="en-US" dirty="0"/>
              <a:t>Methods – Pipeline </a:t>
            </a:r>
            <a:endParaRPr lang="en-GB" dirty="0"/>
          </a:p>
        </p:txBody>
      </p:sp>
      <p:sp>
        <p:nvSpPr>
          <p:cNvPr id="7" name="Slide Number Placeholder 6">
            <a:extLst>
              <a:ext uri="{FF2B5EF4-FFF2-40B4-BE49-F238E27FC236}">
                <a16:creationId xmlns:a16="http://schemas.microsoft.com/office/drawing/2014/main" id="{D80548E1-5F26-4496-BC76-31011E6D7D60}"/>
              </a:ext>
            </a:extLst>
          </p:cNvPr>
          <p:cNvSpPr>
            <a:spLocks noGrp="1"/>
          </p:cNvSpPr>
          <p:nvPr>
            <p:ph type="sldNum" sz="quarter" idx="12"/>
          </p:nvPr>
        </p:nvSpPr>
        <p:spPr/>
        <p:txBody>
          <a:bodyPr/>
          <a:lstStyle/>
          <a:p>
            <a:fld id="{7BABEAAC-62EC-4818-AEB1-30CB1FD7AAFF}" type="slidenum">
              <a:rPr lang="en-GB" smtClean="0"/>
              <a:t>3</a:t>
            </a:fld>
            <a:endParaRPr lang="en-GB" dirty="0"/>
          </a:p>
        </p:txBody>
      </p:sp>
      <p:sp>
        <p:nvSpPr>
          <p:cNvPr id="24" name="Flowchart: Connector 23">
            <a:extLst>
              <a:ext uri="{FF2B5EF4-FFF2-40B4-BE49-F238E27FC236}">
                <a16:creationId xmlns:a16="http://schemas.microsoft.com/office/drawing/2014/main" id="{DC703BEB-8026-498A-5019-AC089FDDF1DE}"/>
              </a:ext>
            </a:extLst>
          </p:cNvPr>
          <p:cNvSpPr/>
          <p:nvPr/>
        </p:nvSpPr>
        <p:spPr>
          <a:xfrm>
            <a:off x="1676830" y="2436767"/>
            <a:ext cx="2636875" cy="966851"/>
          </a:xfrm>
          <a:prstGeom prst="flowChartConnector">
            <a:avLst/>
          </a:prstGeom>
          <a:solidFill>
            <a:schemeClr val="accent2">
              <a:lumMod val="40000"/>
              <a:lumOff val="6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600" b="1" dirty="0">
                <a:solidFill>
                  <a:schemeClr val="tx1"/>
                </a:solidFill>
              </a:rPr>
              <a:t>UMAP</a:t>
            </a:r>
          </a:p>
        </p:txBody>
      </p:sp>
      <p:grpSp>
        <p:nvGrpSpPr>
          <p:cNvPr id="39" name="Group 38">
            <a:extLst>
              <a:ext uri="{FF2B5EF4-FFF2-40B4-BE49-F238E27FC236}">
                <a16:creationId xmlns:a16="http://schemas.microsoft.com/office/drawing/2014/main" id="{908C1B36-D397-F82B-20FE-5D9F59CE08A4}"/>
              </a:ext>
            </a:extLst>
          </p:cNvPr>
          <p:cNvGrpSpPr/>
          <p:nvPr/>
        </p:nvGrpSpPr>
        <p:grpSpPr>
          <a:xfrm>
            <a:off x="2960436" y="1931845"/>
            <a:ext cx="6271129" cy="488960"/>
            <a:chOff x="3349753" y="2724593"/>
            <a:chExt cx="4933507" cy="704407"/>
          </a:xfrm>
        </p:grpSpPr>
        <p:cxnSp>
          <p:nvCxnSpPr>
            <p:cNvPr id="30" name="Straight Connector 29">
              <a:extLst>
                <a:ext uri="{FF2B5EF4-FFF2-40B4-BE49-F238E27FC236}">
                  <a16:creationId xmlns:a16="http://schemas.microsoft.com/office/drawing/2014/main" id="{5AC96758-B4D5-B55A-A81F-43B13133BF4D}"/>
                </a:ext>
              </a:extLst>
            </p:cNvPr>
            <p:cNvCxnSpPr>
              <a:cxnSpLocks/>
            </p:cNvCxnSpPr>
            <p:nvPr/>
          </p:nvCxnSpPr>
          <p:spPr>
            <a:xfrm>
              <a:off x="5816506" y="2724593"/>
              <a:ext cx="0" cy="70440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2E10F19E-A982-D2C6-8B3F-A504F2E8B0F2}"/>
                </a:ext>
              </a:extLst>
            </p:cNvPr>
            <p:cNvCxnSpPr/>
            <p:nvPr/>
          </p:nvCxnSpPr>
          <p:spPr>
            <a:xfrm flipV="1">
              <a:off x="3349753" y="2977116"/>
              <a:ext cx="4933507" cy="451884"/>
            </a:xfrm>
            <a:prstGeom prst="bentConnector3">
              <a:avLst>
                <a:gd name="adj1" fmla="val 216"/>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F315903E-6A0B-5087-FF52-8E77F6553055}"/>
                </a:ext>
              </a:extLst>
            </p:cNvPr>
            <p:cNvCxnSpPr>
              <a:cxnSpLocks/>
            </p:cNvCxnSpPr>
            <p:nvPr/>
          </p:nvCxnSpPr>
          <p:spPr>
            <a:xfrm flipH="1" flipV="1">
              <a:off x="3349753" y="2977116"/>
              <a:ext cx="4933507" cy="451884"/>
            </a:xfrm>
            <a:prstGeom prst="bentConnector3">
              <a:avLst>
                <a:gd name="adj1" fmla="val 216"/>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0" name="Flowchart: Connector 39">
            <a:extLst>
              <a:ext uri="{FF2B5EF4-FFF2-40B4-BE49-F238E27FC236}">
                <a16:creationId xmlns:a16="http://schemas.microsoft.com/office/drawing/2014/main" id="{D10D3325-0C2B-9A21-64A1-F08C97F697FE}"/>
              </a:ext>
            </a:extLst>
          </p:cNvPr>
          <p:cNvSpPr/>
          <p:nvPr/>
        </p:nvSpPr>
        <p:spPr>
          <a:xfrm>
            <a:off x="4774511" y="936430"/>
            <a:ext cx="2636875" cy="966851"/>
          </a:xfrm>
          <a:prstGeom prst="flowChartConnector">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600" b="1" dirty="0">
              <a:solidFill>
                <a:schemeClr val="tx1"/>
              </a:solidFill>
            </a:endParaRPr>
          </a:p>
        </p:txBody>
      </p:sp>
      <p:sp>
        <p:nvSpPr>
          <p:cNvPr id="41" name="Flowchart: Connector 40">
            <a:extLst>
              <a:ext uri="{FF2B5EF4-FFF2-40B4-BE49-F238E27FC236}">
                <a16:creationId xmlns:a16="http://schemas.microsoft.com/office/drawing/2014/main" id="{BE424F6A-16A7-8F97-BB9F-F642BDFF09A3}"/>
              </a:ext>
            </a:extLst>
          </p:cNvPr>
          <p:cNvSpPr/>
          <p:nvPr/>
        </p:nvSpPr>
        <p:spPr>
          <a:xfrm>
            <a:off x="4774509" y="2420036"/>
            <a:ext cx="2636875" cy="966851"/>
          </a:xfrm>
          <a:prstGeom prst="flowChartConnector">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600" b="1" dirty="0">
                <a:solidFill>
                  <a:schemeClr val="tx1"/>
                </a:solidFill>
              </a:rPr>
              <a:t>GMM</a:t>
            </a:r>
          </a:p>
        </p:txBody>
      </p:sp>
      <p:sp>
        <p:nvSpPr>
          <p:cNvPr id="42" name="Flowchart: Connector 41">
            <a:extLst>
              <a:ext uri="{FF2B5EF4-FFF2-40B4-BE49-F238E27FC236}">
                <a16:creationId xmlns:a16="http://schemas.microsoft.com/office/drawing/2014/main" id="{3505C495-A343-F9D8-830A-CC1A2EC4A7CE}"/>
              </a:ext>
            </a:extLst>
          </p:cNvPr>
          <p:cNvSpPr/>
          <p:nvPr/>
        </p:nvSpPr>
        <p:spPr>
          <a:xfrm>
            <a:off x="7854550" y="2420036"/>
            <a:ext cx="2636875" cy="966851"/>
          </a:xfrm>
          <a:prstGeom prst="flowChartConnector">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600" b="1" dirty="0" err="1">
                <a:solidFill>
                  <a:schemeClr val="tx1"/>
                </a:solidFill>
              </a:rPr>
              <a:t>XGBoost</a:t>
            </a:r>
            <a:endParaRPr lang="en-GB" sz="2600" b="1" dirty="0">
              <a:solidFill>
                <a:schemeClr val="tx1"/>
              </a:solidFill>
            </a:endParaRPr>
          </a:p>
        </p:txBody>
      </p:sp>
      <p:sp>
        <p:nvSpPr>
          <p:cNvPr id="43" name="TextBox 42">
            <a:extLst>
              <a:ext uri="{FF2B5EF4-FFF2-40B4-BE49-F238E27FC236}">
                <a16:creationId xmlns:a16="http://schemas.microsoft.com/office/drawing/2014/main" id="{EF6BC416-F977-BCBB-FB30-BB1A92B2C63D}"/>
              </a:ext>
            </a:extLst>
          </p:cNvPr>
          <p:cNvSpPr txBox="1"/>
          <p:nvPr/>
        </p:nvSpPr>
        <p:spPr>
          <a:xfrm>
            <a:off x="4998284" y="1178899"/>
            <a:ext cx="2413100" cy="492443"/>
          </a:xfrm>
          <a:prstGeom prst="rect">
            <a:avLst/>
          </a:prstGeom>
          <a:noFill/>
        </p:spPr>
        <p:txBody>
          <a:bodyPr wrap="square" rtlCol="0">
            <a:spAutoFit/>
          </a:bodyPr>
          <a:lstStyle/>
          <a:p>
            <a:r>
              <a:rPr lang="en-GB" sz="2600" b="1" dirty="0" err="1"/>
              <a:t>MinMaxScaler</a:t>
            </a:r>
            <a:endParaRPr lang="en-GB" sz="2600" b="1" dirty="0"/>
          </a:p>
        </p:txBody>
      </p:sp>
      <p:sp>
        <p:nvSpPr>
          <p:cNvPr id="44" name="Content Placeholder 13">
            <a:extLst>
              <a:ext uri="{FF2B5EF4-FFF2-40B4-BE49-F238E27FC236}">
                <a16:creationId xmlns:a16="http://schemas.microsoft.com/office/drawing/2014/main" id="{507B26E4-0703-5824-E622-D9808C47C848}"/>
              </a:ext>
            </a:extLst>
          </p:cNvPr>
          <p:cNvSpPr txBox="1">
            <a:spLocks/>
          </p:cNvSpPr>
          <p:nvPr/>
        </p:nvSpPr>
        <p:spPr>
          <a:xfrm>
            <a:off x="1724263" y="3696558"/>
            <a:ext cx="2542008" cy="681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dirty="0"/>
              <a:t>to preserve the global structure</a:t>
            </a:r>
          </a:p>
        </p:txBody>
      </p:sp>
      <p:sp>
        <p:nvSpPr>
          <p:cNvPr id="45" name="Content Placeholder 13">
            <a:extLst>
              <a:ext uri="{FF2B5EF4-FFF2-40B4-BE49-F238E27FC236}">
                <a16:creationId xmlns:a16="http://schemas.microsoft.com/office/drawing/2014/main" id="{CB94C7A5-CD49-E86D-A32C-8126AD8401CA}"/>
              </a:ext>
            </a:extLst>
          </p:cNvPr>
          <p:cNvSpPr txBox="1">
            <a:spLocks/>
          </p:cNvSpPr>
          <p:nvPr/>
        </p:nvSpPr>
        <p:spPr>
          <a:xfrm>
            <a:off x="128012" y="3892473"/>
            <a:ext cx="1887072" cy="3651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000" b="1" dirty="0"/>
              <a:t>Rationale</a:t>
            </a:r>
          </a:p>
        </p:txBody>
      </p:sp>
      <p:sp>
        <p:nvSpPr>
          <p:cNvPr id="47" name="Content Placeholder 13">
            <a:extLst>
              <a:ext uri="{FF2B5EF4-FFF2-40B4-BE49-F238E27FC236}">
                <a16:creationId xmlns:a16="http://schemas.microsoft.com/office/drawing/2014/main" id="{B049BB25-F2F9-C84A-C243-717C0B0D58F3}"/>
              </a:ext>
            </a:extLst>
          </p:cNvPr>
          <p:cNvSpPr txBox="1">
            <a:spLocks/>
          </p:cNvSpPr>
          <p:nvPr/>
        </p:nvSpPr>
        <p:spPr>
          <a:xfrm>
            <a:off x="4821942" y="3699791"/>
            <a:ext cx="2542008" cy="12789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endParaRPr lang="en-US" sz="2000" dirty="0"/>
          </a:p>
        </p:txBody>
      </p:sp>
      <p:sp>
        <p:nvSpPr>
          <p:cNvPr id="49" name="Content Placeholder 13">
            <a:extLst>
              <a:ext uri="{FF2B5EF4-FFF2-40B4-BE49-F238E27FC236}">
                <a16:creationId xmlns:a16="http://schemas.microsoft.com/office/drawing/2014/main" id="{1B439010-B62D-16DF-DAC9-E22DB5371ECA}"/>
              </a:ext>
            </a:extLst>
          </p:cNvPr>
          <p:cNvSpPr txBox="1">
            <a:spLocks/>
          </p:cNvSpPr>
          <p:nvPr/>
        </p:nvSpPr>
        <p:spPr>
          <a:xfrm>
            <a:off x="4821942" y="3686519"/>
            <a:ext cx="2542008" cy="12789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GB" sz="2000" dirty="0"/>
              <a:t>showed better-separated clusters when compared to DBSCAN</a:t>
            </a:r>
            <a:endParaRPr lang="en-US" sz="2000" dirty="0"/>
          </a:p>
        </p:txBody>
      </p:sp>
      <p:sp>
        <p:nvSpPr>
          <p:cNvPr id="51" name="Content Placeholder 13">
            <a:extLst>
              <a:ext uri="{FF2B5EF4-FFF2-40B4-BE49-F238E27FC236}">
                <a16:creationId xmlns:a16="http://schemas.microsoft.com/office/drawing/2014/main" id="{535FB726-F94C-C919-9196-86387B665CBF}"/>
              </a:ext>
            </a:extLst>
          </p:cNvPr>
          <p:cNvSpPr txBox="1">
            <a:spLocks/>
          </p:cNvSpPr>
          <p:nvPr/>
        </p:nvSpPr>
        <p:spPr>
          <a:xfrm>
            <a:off x="7681686" y="3699791"/>
            <a:ext cx="2982603" cy="12789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GB" sz="2000" b="1" dirty="0" err="1"/>
              <a:t>MinMaxScaler+XGBoost</a:t>
            </a:r>
            <a:r>
              <a:rPr lang="en-GB" sz="2000" b="1" dirty="0"/>
              <a:t> </a:t>
            </a:r>
            <a:r>
              <a:rPr lang="en-GB" sz="2000" dirty="0"/>
              <a:t>combination showed the highest accuracy applying </a:t>
            </a:r>
            <a:r>
              <a:rPr lang="en-GB" sz="2000" dirty="0" err="1"/>
              <a:t>GridSearchCV</a:t>
            </a:r>
            <a:r>
              <a:rPr lang="en-GB" sz="2000" dirty="0"/>
              <a:t>()</a:t>
            </a:r>
          </a:p>
          <a:p>
            <a:pPr algn="ctr">
              <a:lnSpc>
                <a:spcPct val="100000"/>
              </a:lnSpc>
            </a:pPr>
            <a:endParaRPr lang="en-GB" sz="2000" dirty="0"/>
          </a:p>
        </p:txBody>
      </p:sp>
      <p:sp>
        <p:nvSpPr>
          <p:cNvPr id="58" name="TextBox 57">
            <a:extLst>
              <a:ext uri="{FF2B5EF4-FFF2-40B4-BE49-F238E27FC236}">
                <a16:creationId xmlns:a16="http://schemas.microsoft.com/office/drawing/2014/main" id="{778A7E7F-A9F0-F50D-54F3-EE1238E3F7F8}"/>
              </a:ext>
            </a:extLst>
          </p:cNvPr>
          <p:cNvSpPr txBox="1"/>
          <p:nvPr/>
        </p:nvSpPr>
        <p:spPr>
          <a:xfrm>
            <a:off x="273018" y="5205076"/>
            <a:ext cx="7557450" cy="892552"/>
          </a:xfrm>
          <a:prstGeom prst="rect">
            <a:avLst/>
          </a:prstGeom>
          <a:noFill/>
        </p:spPr>
        <p:txBody>
          <a:bodyPr wrap="square">
            <a:spAutoFit/>
          </a:bodyPr>
          <a:lstStyle/>
          <a:p>
            <a:pPr algn="ctr"/>
            <a:r>
              <a:rPr lang="en-GB" sz="2600" b="1" dirty="0">
                <a:solidFill>
                  <a:srgbClr val="C00000"/>
                </a:solidFill>
              </a:rPr>
              <a:t>“Parameter Optimisation: </a:t>
            </a:r>
          </a:p>
          <a:p>
            <a:pPr algn="ctr"/>
            <a:r>
              <a:rPr lang="en-GB" sz="2600" b="1" dirty="0">
                <a:solidFill>
                  <a:srgbClr val="C00000"/>
                </a:solidFill>
              </a:rPr>
              <a:t>10-fold Cross-Validation Grid Search”</a:t>
            </a:r>
          </a:p>
        </p:txBody>
      </p:sp>
      <p:cxnSp>
        <p:nvCxnSpPr>
          <p:cNvPr id="4" name="Straight Arrow Connector 3">
            <a:extLst>
              <a:ext uri="{FF2B5EF4-FFF2-40B4-BE49-F238E27FC236}">
                <a16:creationId xmlns:a16="http://schemas.microsoft.com/office/drawing/2014/main" id="{66E9C1FF-0179-0E53-170D-447FBCCD05CA}"/>
              </a:ext>
            </a:extLst>
          </p:cNvPr>
          <p:cNvCxnSpPr>
            <a:cxnSpLocks/>
          </p:cNvCxnSpPr>
          <p:nvPr/>
        </p:nvCxnSpPr>
        <p:spPr>
          <a:xfrm>
            <a:off x="9172987" y="5063613"/>
            <a:ext cx="0" cy="29637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8" name="Content Placeholder 13">
            <a:extLst>
              <a:ext uri="{FF2B5EF4-FFF2-40B4-BE49-F238E27FC236}">
                <a16:creationId xmlns:a16="http://schemas.microsoft.com/office/drawing/2014/main" id="{83D91E1C-0A2A-114B-3B09-E0B70D9B61F9}"/>
              </a:ext>
            </a:extLst>
          </p:cNvPr>
          <p:cNvSpPr txBox="1">
            <a:spLocks/>
          </p:cNvSpPr>
          <p:nvPr/>
        </p:nvSpPr>
        <p:spPr>
          <a:xfrm>
            <a:off x="7681686" y="5410555"/>
            <a:ext cx="2982603" cy="12789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GB" sz="2000" b="1" dirty="0" err="1"/>
              <a:t>shap.TreeExplainer</a:t>
            </a:r>
            <a:r>
              <a:rPr lang="en-GB" sz="2000" b="1" dirty="0"/>
              <a:t>()</a:t>
            </a:r>
          </a:p>
          <a:p>
            <a:pPr marL="0" indent="0" algn="ctr">
              <a:lnSpc>
                <a:spcPct val="100000"/>
              </a:lnSpc>
              <a:buNone/>
            </a:pPr>
            <a:r>
              <a:rPr lang="en-GB" sz="2000" dirty="0"/>
              <a:t>: Feature Importances for each class</a:t>
            </a:r>
          </a:p>
          <a:p>
            <a:pPr algn="ctr">
              <a:lnSpc>
                <a:spcPct val="100000"/>
              </a:lnSpc>
            </a:pPr>
            <a:endParaRPr lang="en-GB" sz="2000" dirty="0"/>
          </a:p>
        </p:txBody>
      </p:sp>
      <p:sp>
        <p:nvSpPr>
          <p:cNvPr id="3" name="Content Placeholder 13">
            <a:extLst>
              <a:ext uri="{FF2B5EF4-FFF2-40B4-BE49-F238E27FC236}">
                <a16:creationId xmlns:a16="http://schemas.microsoft.com/office/drawing/2014/main" id="{00362334-9742-484D-E329-DA00D54D2CFD}"/>
              </a:ext>
            </a:extLst>
          </p:cNvPr>
          <p:cNvSpPr txBox="1">
            <a:spLocks/>
          </p:cNvSpPr>
          <p:nvPr/>
        </p:nvSpPr>
        <p:spPr>
          <a:xfrm>
            <a:off x="3362993" y="2079510"/>
            <a:ext cx="2330450" cy="3678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000" dirty="0" err="1"/>
              <a:t>random_state</a:t>
            </a:r>
            <a:r>
              <a:rPr lang="en-US" sz="2000" dirty="0"/>
              <a:t> = 517</a:t>
            </a:r>
          </a:p>
        </p:txBody>
      </p:sp>
      <p:sp>
        <p:nvSpPr>
          <p:cNvPr id="5" name="Footer Placeholder 4">
            <a:extLst>
              <a:ext uri="{FF2B5EF4-FFF2-40B4-BE49-F238E27FC236}">
                <a16:creationId xmlns:a16="http://schemas.microsoft.com/office/drawing/2014/main" id="{8B4291FC-46A8-A407-4BCE-ECCA0487455C}"/>
              </a:ext>
            </a:extLst>
          </p:cNvPr>
          <p:cNvSpPr>
            <a:spLocks noGrp="1"/>
          </p:cNvSpPr>
          <p:nvPr>
            <p:ph type="ftr" sz="quarter" idx="11"/>
          </p:nvPr>
        </p:nvSpPr>
        <p:spPr>
          <a:xfrm>
            <a:off x="609600" y="6356350"/>
            <a:ext cx="10966704" cy="365125"/>
          </a:xfrm>
        </p:spPr>
        <p:txBody>
          <a:bodyPr/>
          <a:lstStyle/>
          <a:p>
            <a:r>
              <a:rPr lang="en-GB" dirty="0"/>
              <a:t>Group 0 = non-IBD, 1 = Crohn’s Disease, 2 = Ulcerative colitis</a:t>
            </a:r>
          </a:p>
        </p:txBody>
      </p:sp>
    </p:spTree>
    <p:extLst>
      <p:ext uri="{BB962C8B-B14F-4D97-AF65-F5344CB8AC3E}">
        <p14:creationId xmlns:p14="http://schemas.microsoft.com/office/powerpoint/2010/main" val="341875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41" grpId="0" animBg="1"/>
      <p:bldP spid="42" grpId="0" animBg="1"/>
      <p:bldP spid="44" grpId="0"/>
      <p:bldP spid="45" grpId="0"/>
      <p:bldP spid="49" grpId="0"/>
      <p:bldP spid="51" grpId="0"/>
      <p:bldP spid="58" grpId="0"/>
      <p:bldP spid="8"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1F879-232A-4FF6-A6F3-11729ABAC68C}"/>
              </a:ext>
            </a:extLst>
          </p:cNvPr>
          <p:cNvSpPr>
            <a:spLocks noGrp="1"/>
          </p:cNvSpPr>
          <p:nvPr>
            <p:ph type="title"/>
          </p:nvPr>
        </p:nvSpPr>
        <p:spPr/>
        <p:txBody>
          <a:bodyPr/>
          <a:lstStyle/>
          <a:p>
            <a:r>
              <a:rPr lang="en-US" dirty="0"/>
              <a:t>Results – </a:t>
            </a:r>
            <a:r>
              <a:rPr lang="en-US" dirty="0" err="1"/>
              <a:t>Visualisation</a:t>
            </a:r>
            <a:endParaRPr lang="en-GB" dirty="0"/>
          </a:p>
        </p:txBody>
      </p:sp>
      <p:sp>
        <p:nvSpPr>
          <p:cNvPr id="5" name="Slide Number Placeholder 4">
            <a:extLst>
              <a:ext uri="{FF2B5EF4-FFF2-40B4-BE49-F238E27FC236}">
                <a16:creationId xmlns:a16="http://schemas.microsoft.com/office/drawing/2014/main" id="{C5F88922-878D-481E-8451-18A56334E4C8}"/>
              </a:ext>
            </a:extLst>
          </p:cNvPr>
          <p:cNvSpPr>
            <a:spLocks noGrp="1"/>
          </p:cNvSpPr>
          <p:nvPr>
            <p:ph type="sldNum" sz="quarter" idx="12"/>
          </p:nvPr>
        </p:nvSpPr>
        <p:spPr/>
        <p:txBody>
          <a:bodyPr/>
          <a:lstStyle/>
          <a:p>
            <a:fld id="{7BABEAAC-62EC-4818-AEB1-30CB1FD7AAFF}" type="slidenum">
              <a:rPr lang="en-GB" smtClean="0"/>
              <a:t>4</a:t>
            </a:fld>
            <a:endParaRPr lang="en-GB" dirty="0"/>
          </a:p>
        </p:txBody>
      </p:sp>
      <p:sp>
        <p:nvSpPr>
          <p:cNvPr id="8" name="TextBox 7">
            <a:extLst>
              <a:ext uri="{FF2B5EF4-FFF2-40B4-BE49-F238E27FC236}">
                <a16:creationId xmlns:a16="http://schemas.microsoft.com/office/drawing/2014/main" id="{9498CC0A-3D74-F7B3-0D8D-ED52E77A4AF1}"/>
              </a:ext>
            </a:extLst>
          </p:cNvPr>
          <p:cNvSpPr txBox="1"/>
          <p:nvPr/>
        </p:nvSpPr>
        <p:spPr>
          <a:xfrm>
            <a:off x="6819793" y="6208353"/>
            <a:ext cx="4775657" cy="369332"/>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dirty="0" err="1"/>
              <a:t>n_components</a:t>
            </a:r>
            <a:r>
              <a:rPr lang="en-GB" dirty="0"/>
              <a:t>= 3,  </a:t>
            </a:r>
            <a:r>
              <a:rPr lang="en-GB" dirty="0" err="1"/>
              <a:t>covariance_type</a:t>
            </a:r>
            <a:r>
              <a:rPr lang="en-GB" dirty="0"/>
              <a:t>= "</a:t>
            </a:r>
            <a:r>
              <a:rPr lang="en-GB" dirty="0" err="1"/>
              <a:t>diag</a:t>
            </a:r>
            <a:r>
              <a:rPr lang="en-GB" dirty="0"/>
              <a:t>"</a:t>
            </a:r>
          </a:p>
        </p:txBody>
      </p:sp>
      <p:sp>
        <p:nvSpPr>
          <p:cNvPr id="3" name="Content Placeholder 13">
            <a:extLst>
              <a:ext uri="{FF2B5EF4-FFF2-40B4-BE49-F238E27FC236}">
                <a16:creationId xmlns:a16="http://schemas.microsoft.com/office/drawing/2014/main" id="{AEE3BE52-38B1-A619-D452-E347335BFB5F}"/>
              </a:ext>
            </a:extLst>
          </p:cNvPr>
          <p:cNvSpPr txBox="1">
            <a:spLocks/>
          </p:cNvSpPr>
          <p:nvPr/>
        </p:nvSpPr>
        <p:spPr>
          <a:xfrm>
            <a:off x="867521" y="6003209"/>
            <a:ext cx="4544489" cy="574476"/>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800" dirty="0" err="1"/>
              <a:t>n_components</a:t>
            </a:r>
            <a:r>
              <a:rPr lang="en-GB" sz="1800" dirty="0"/>
              <a:t>= 2, </a:t>
            </a:r>
            <a:r>
              <a:rPr lang="en-GB" sz="1800" dirty="0" err="1"/>
              <a:t>min_dist</a:t>
            </a:r>
            <a:r>
              <a:rPr lang="en-GB" sz="1800" dirty="0"/>
              <a:t>= 0.3, </a:t>
            </a:r>
            <a:r>
              <a:rPr lang="en-GB" sz="1800" dirty="0" err="1"/>
              <a:t>n_neighbors</a:t>
            </a:r>
            <a:r>
              <a:rPr lang="en-GB" sz="1800" dirty="0"/>
              <a:t>= 5, metric= "</a:t>
            </a:r>
            <a:r>
              <a:rPr lang="en-GB" sz="1800" dirty="0" err="1"/>
              <a:t>euclidean</a:t>
            </a:r>
            <a:r>
              <a:rPr lang="en-GB" sz="1800" dirty="0"/>
              <a:t>"</a:t>
            </a:r>
            <a:endParaRPr lang="en-US" sz="1800" dirty="0"/>
          </a:p>
        </p:txBody>
      </p:sp>
      <p:graphicFrame>
        <p:nvGraphicFramePr>
          <p:cNvPr id="19" name="Table 18">
            <a:extLst>
              <a:ext uri="{FF2B5EF4-FFF2-40B4-BE49-F238E27FC236}">
                <a16:creationId xmlns:a16="http://schemas.microsoft.com/office/drawing/2014/main" id="{72B5735C-6C7C-30DF-9C34-FA4BCB55657C}"/>
              </a:ext>
            </a:extLst>
          </p:cNvPr>
          <p:cNvGraphicFramePr>
            <a:graphicFrameLocks noGrp="1"/>
          </p:cNvGraphicFramePr>
          <p:nvPr>
            <p:extLst>
              <p:ext uri="{D42A27DB-BD31-4B8C-83A1-F6EECF244321}">
                <p14:modId xmlns:p14="http://schemas.microsoft.com/office/powerpoint/2010/main" val="2090214681"/>
              </p:ext>
            </p:extLst>
          </p:nvPr>
        </p:nvGraphicFramePr>
        <p:xfrm>
          <a:off x="7425889" y="348522"/>
          <a:ext cx="3336200" cy="1136240"/>
        </p:xfrm>
        <a:graphic>
          <a:graphicData uri="http://schemas.openxmlformats.org/drawingml/2006/table">
            <a:tbl>
              <a:tblPr>
                <a:tableStyleId>{16D9F66E-5EB9-4882-86FB-DCBF35E3C3E4}</a:tableStyleId>
              </a:tblPr>
              <a:tblGrid>
                <a:gridCol w="1088279">
                  <a:extLst>
                    <a:ext uri="{9D8B030D-6E8A-4147-A177-3AD203B41FA5}">
                      <a16:colId xmlns:a16="http://schemas.microsoft.com/office/drawing/2014/main" val="644011489"/>
                    </a:ext>
                  </a:extLst>
                </a:gridCol>
                <a:gridCol w="749307">
                  <a:extLst>
                    <a:ext uri="{9D8B030D-6E8A-4147-A177-3AD203B41FA5}">
                      <a16:colId xmlns:a16="http://schemas.microsoft.com/office/drawing/2014/main" val="2198042473"/>
                    </a:ext>
                  </a:extLst>
                </a:gridCol>
                <a:gridCol w="749307">
                  <a:extLst>
                    <a:ext uri="{9D8B030D-6E8A-4147-A177-3AD203B41FA5}">
                      <a16:colId xmlns:a16="http://schemas.microsoft.com/office/drawing/2014/main" val="297150532"/>
                    </a:ext>
                  </a:extLst>
                </a:gridCol>
                <a:gridCol w="749307">
                  <a:extLst>
                    <a:ext uri="{9D8B030D-6E8A-4147-A177-3AD203B41FA5}">
                      <a16:colId xmlns:a16="http://schemas.microsoft.com/office/drawing/2014/main" val="1787748636"/>
                    </a:ext>
                  </a:extLst>
                </a:gridCol>
              </a:tblGrid>
              <a:tr h="210511">
                <a:tc>
                  <a:txBody>
                    <a:bodyPr/>
                    <a:lstStyle/>
                    <a:p>
                      <a:pPr algn="ctr" fontAlgn="b"/>
                      <a:endParaRPr lang="en-GB" sz="1400" b="1" i="0" u="none" strike="noStrike" dirty="0">
                        <a:solidFill>
                          <a:srgbClr val="000000"/>
                        </a:solidFill>
                        <a:effectLst/>
                        <a:latin typeface="Calibri" panose="020F0502020204030204" pitchFamily="34" charset="0"/>
                      </a:endParaRPr>
                    </a:p>
                  </a:txBody>
                  <a:tcPr marL="7620" marR="7620" marT="7620" marB="0" anchor="b"/>
                </a:tc>
                <a:tc gridSpan="3">
                  <a:txBody>
                    <a:bodyPr/>
                    <a:lstStyle/>
                    <a:p>
                      <a:pPr algn="ctr" fontAlgn="b"/>
                      <a:r>
                        <a:rPr lang="en-GB" sz="1400" b="1" u="none" strike="noStrike" dirty="0">
                          <a:effectLst/>
                        </a:rPr>
                        <a:t>Group</a:t>
                      </a:r>
                      <a:endParaRPr lang="en-GB" sz="14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778362833"/>
                  </a:ext>
                </a:extLst>
              </a:tr>
              <a:tr h="228815">
                <a:tc>
                  <a:txBody>
                    <a:bodyPr/>
                    <a:lstStyle/>
                    <a:p>
                      <a:pPr algn="ctr" fontAlgn="b"/>
                      <a:r>
                        <a:rPr lang="en-GB" sz="1400" b="1" u="none" strike="noStrike">
                          <a:effectLst/>
                        </a:rPr>
                        <a:t>GMM cluster</a:t>
                      </a:r>
                      <a:endParaRPr lang="en-GB" sz="14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dirty="0">
                          <a:effectLst/>
                        </a:rPr>
                        <a:t>0</a:t>
                      </a:r>
                      <a:endParaRPr lang="en-GB"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a:effectLst/>
                        </a:rPr>
                        <a:t>1</a:t>
                      </a:r>
                      <a:endParaRPr lang="en-GB" sz="14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a:effectLst/>
                        </a:rPr>
                        <a:t>2</a:t>
                      </a:r>
                      <a:endParaRPr lang="en-GB" sz="14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79107776"/>
                  </a:ext>
                </a:extLst>
              </a:tr>
              <a:tr h="228815">
                <a:tc>
                  <a:txBody>
                    <a:bodyPr/>
                    <a:lstStyle/>
                    <a:p>
                      <a:pPr algn="ctr" fontAlgn="b"/>
                      <a:r>
                        <a:rPr lang="en-GB" sz="1400" b="1" u="none" strike="noStrike">
                          <a:effectLst/>
                        </a:rPr>
                        <a:t>0</a:t>
                      </a:r>
                      <a:endParaRPr lang="en-GB" sz="14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ctr"/>
                      <a:r>
                        <a:rPr lang="en-GB" sz="1400" b="1" u="none" strike="noStrike">
                          <a:effectLst/>
                        </a:rPr>
                        <a:t>12</a:t>
                      </a:r>
                      <a:endParaRPr lang="en-GB"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GB" sz="1400" b="1" u="none" strike="noStrike">
                          <a:effectLst/>
                        </a:rPr>
                        <a:t>119</a:t>
                      </a:r>
                      <a:endParaRPr lang="en-GB" sz="14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a:effectLst/>
                        </a:rPr>
                        <a:t>64</a:t>
                      </a:r>
                      <a:endParaRPr lang="en-GB" sz="14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0195993"/>
                  </a:ext>
                </a:extLst>
              </a:tr>
              <a:tr h="228815">
                <a:tc>
                  <a:txBody>
                    <a:bodyPr/>
                    <a:lstStyle/>
                    <a:p>
                      <a:pPr algn="ctr" fontAlgn="b"/>
                      <a:r>
                        <a:rPr lang="en-GB" sz="1400" b="1" u="none" strike="noStrike" dirty="0">
                          <a:effectLst/>
                        </a:rPr>
                        <a:t>1</a:t>
                      </a:r>
                      <a:endParaRPr lang="en-GB"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ctr"/>
                      <a:r>
                        <a:rPr lang="en-GB" sz="1400" b="1" u="none" strike="noStrike">
                          <a:effectLst/>
                        </a:rPr>
                        <a:t>11</a:t>
                      </a:r>
                      <a:endParaRPr lang="en-GB"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GB" sz="1400" b="1" u="none" strike="noStrike" dirty="0">
                          <a:effectLst/>
                        </a:rPr>
                        <a:t>59</a:t>
                      </a:r>
                      <a:endParaRPr lang="en-GB"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a:effectLst/>
                        </a:rPr>
                        <a:t>24</a:t>
                      </a:r>
                      <a:endParaRPr lang="en-GB" sz="14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40093639"/>
                  </a:ext>
                </a:extLst>
              </a:tr>
              <a:tr h="228815">
                <a:tc>
                  <a:txBody>
                    <a:bodyPr/>
                    <a:lstStyle/>
                    <a:p>
                      <a:pPr algn="ctr" fontAlgn="b"/>
                      <a:r>
                        <a:rPr lang="en-GB" sz="1400" b="1" u="none" strike="noStrike">
                          <a:effectLst/>
                        </a:rPr>
                        <a:t>2</a:t>
                      </a:r>
                      <a:endParaRPr lang="en-GB" sz="1400" b="1" i="0" u="none" strike="noStrike">
                        <a:solidFill>
                          <a:srgbClr val="000000"/>
                        </a:solidFill>
                        <a:effectLst/>
                        <a:latin typeface="Calibri" panose="020F0502020204030204" pitchFamily="34" charset="0"/>
                      </a:endParaRPr>
                    </a:p>
                  </a:txBody>
                  <a:tcPr marL="7620" marR="7620" marT="7620" marB="0" anchor="b"/>
                </a:tc>
                <a:tc>
                  <a:txBody>
                    <a:bodyPr/>
                    <a:lstStyle/>
                    <a:p>
                      <a:pPr algn="ctr" fontAlgn="ctr"/>
                      <a:r>
                        <a:rPr lang="en-GB" sz="1400" b="1" u="none" strike="noStrike" dirty="0">
                          <a:effectLst/>
                        </a:rPr>
                        <a:t>56</a:t>
                      </a:r>
                      <a:endParaRPr lang="en-GB" sz="1400" b="1"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b"/>
                      <a:r>
                        <a:rPr lang="en-GB" sz="1400" b="1" u="none" strike="noStrike" dirty="0">
                          <a:effectLst/>
                        </a:rPr>
                        <a:t>54</a:t>
                      </a:r>
                      <a:endParaRPr lang="en-GB" sz="1400" b="1"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GB" sz="1400" b="1" u="none" strike="noStrike" dirty="0">
                          <a:effectLst/>
                        </a:rPr>
                        <a:t>25</a:t>
                      </a:r>
                      <a:endParaRPr lang="en-GB" sz="14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95015030"/>
                  </a:ext>
                </a:extLst>
              </a:tr>
            </a:tbl>
          </a:graphicData>
        </a:graphic>
      </p:graphicFrame>
      <p:pic>
        <p:nvPicPr>
          <p:cNvPr id="13" name="Picture 12">
            <a:extLst>
              <a:ext uri="{FF2B5EF4-FFF2-40B4-BE49-F238E27FC236}">
                <a16:creationId xmlns:a16="http://schemas.microsoft.com/office/drawing/2014/main" id="{D2247685-E4DD-D1DB-DE66-50439293739C}"/>
              </a:ext>
            </a:extLst>
          </p:cNvPr>
          <p:cNvPicPr>
            <a:picLocks noChangeAspect="1"/>
          </p:cNvPicPr>
          <p:nvPr/>
        </p:nvPicPr>
        <p:blipFill rotWithShape="1">
          <a:blip r:embed="rId2"/>
          <a:srcRect t="-1736"/>
          <a:stretch/>
        </p:blipFill>
        <p:spPr>
          <a:xfrm>
            <a:off x="1044912" y="1178197"/>
            <a:ext cx="3779635" cy="3917663"/>
          </a:xfrm>
          <a:prstGeom prst="rect">
            <a:avLst/>
          </a:prstGeom>
        </p:spPr>
      </p:pic>
      <p:pic>
        <p:nvPicPr>
          <p:cNvPr id="15" name="Picture 14">
            <a:extLst>
              <a:ext uri="{FF2B5EF4-FFF2-40B4-BE49-F238E27FC236}">
                <a16:creationId xmlns:a16="http://schemas.microsoft.com/office/drawing/2014/main" id="{D0439C0E-A66D-CFF4-80E2-B9D0A8CD3542}"/>
              </a:ext>
            </a:extLst>
          </p:cNvPr>
          <p:cNvPicPr>
            <a:picLocks noChangeAspect="1"/>
          </p:cNvPicPr>
          <p:nvPr/>
        </p:nvPicPr>
        <p:blipFill rotWithShape="1">
          <a:blip r:embed="rId3"/>
          <a:srcRect l="1763"/>
          <a:stretch/>
        </p:blipFill>
        <p:spPr>
          <a:xfrm>
            <a:off x="6960851" y="2135196"/>
            <a:ext cx="4266277" cy="3578874"/>
          </a:xfrm>
          <a:prstGeom prst="rect">
            <a:avLst/>
          </a:prstGeom>
        </p:spPr>
      </p:pic>
      <p:sp>
        <p:nvSpPr>
          <p:cNvPr id="16" name="Content Placeholder 13">
            <a:extLst>
              <a:ext uri="{FF2B5EF4-FFF2-40B4-BE49-F238E27FC236}">
                <a16:creationId xmlns:a16="http://schemas.microsoft.com/office/drawing/2014/main" id="{3A9A3D3A-1B6A-F3F5-B3B9-72429020DEEF}"/>
              </a:ext>
            </a:extLst>
          </p:cNvPr>
          <p:cNvSpPr txBox="1">
            <a:spLocks/>
          </p:cNvSpPr>
          <p:nvPr/>
        </p:nvSpPr>
        <p:spPr>
          <a:xfrm>
            <a:off x="1044912" y="5170681"/>
            <a:ext cx="4189708" cy="8164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1200" b="1" dirty="0">
                <a:cs typeface="Arial" panose="020B0604020202020204" pitchFamily="34" charset="0"/>
              </a:rPr>
              <a:t>Figure 3. UMAP plot of IBD Metabolomics data. </a:t>
            </a:r>
            <a:r>
              <a:rPr lang="en-GB" sz="1200" dirty="0">
                <a:cs typeface="Arial" panose="020B0604020202020204" pitchFamily="34" charset="0"/>
              </a:rPr>
              <a:t>Overlapping and scattered plot suggests there are no distinct boundaries between the microbiome profiles of these groups. Group 0 = ‘non-IBD’, 1 = Crohn’s Disease (CD)’, 2 = ‘Ulcerative Colitis (UC).</a:t>
            </a:r>
            <a:endParaRPr lang="en-US" sz="1200" dirty="0">
              <a:cs typeface="Arial" panose="020B0604020202020204" pitchFamily="34" charset="0"/>
            </a:endParaRPr>
          </a:p>
        </p:txBody>
      </p:sp>
      <p:sp>
        <p:nvSpPr>
          <p:cNvPr id="17" name="Content Placeholder 13">
            <a:extLst>
              <a:ext uri="{FF2B5EF4-FFF2-40B4-BE49-F238E27FC236}">
                <a16:creationId xmlns:a16="http://schemas.microsoft.com/office/drawing/2014/main" id="{BA1ACC6A-03CF-B393-7A17-E819C3A37999}"/>
              </a:ext>
            </a:extLst>
          </p:cNvPr>
          <p:cNvSpPr txBox="1">
            <a:spLocks/>
          </p:cNvSpPr>
          <p:nvPr/>
        </p:nvSpPr>
        <p:spPr>
          <a:xfrm>
            <a:off x="6999135" y="1484762"/>
            <a:ext cx="4189708" cy="5082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1200" b="1" dirty="0">
                <a:cs typeface="Arial" panose="020B0604020202020204" pitchFamily="34" charset="0"/>
              </a:rPr>
              <a:t>Table 1. Contingency table showing the number of points from the original group 0, 1, 2 in the GMM cluster 0, 1, 2. </a:t>
            </a:r>
            <a:endParaRPr lang="en-US" sz="1200" dirty="0">
              <a:cs typeface="Arial" panose="020B0604020202020204" pitchFamily="34" charset="0"/>
            </a:endParaRPr>
          </a:p>
        </p:txBody>
      </p:sp>
      <p:sp>
        <p:nvSpPr>
          <p:cNvPr id="18" name="Content Placeholder 13">
            <a:extLst>
              <a:ext uri="{FF2B5EF4-FFF2-40B4-BE49-F238E27FC236}">
                <a16:creationId xmlns:a16="http://schemas.microsoft.com/office/drawing/2014/main" id="{E9242364-666F-1289-1155-F602E20CAFBD}"/>
              </a:ext>
            </a:extLst>
          </p:cNvPr>
          <p:cNvSpPr txBox="1">
            <a:spLocks/>
          </p:cNvSpPr>
          <p:nvPr/>
        </p:nvSpPr>
        <p:spPr>
          <a:xfrm>
            <a:off x="7112768" y="5752206"/>
            <a:ext cx="4189708" cy="4610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1200" b="1" dirty="0">
                <a:cs typeface="Arial" panose="020B0604020202020204" pitchFamily="34" charset="0"/>
              </a:rPr>
              <a:t>Figure 4. GMM plot of UMAP-reduced Metabolomics data. </a:t>
            </a:r>
            <a:r>
              <a:rPr lang="en-GB" sz="1200" dirty="0">
                <a:cs typeface="Arial" panose="020B0604020202020204" pitchFamily="34" charset="0"/>
              </a:rPr>
              <a:t>Three distinct clusters are clearly separated.</a:t>
            </a:r>
            <a:endParaRPr lang="en-US" sz="1200" dirty="0">
              <a:cs typeface="Arial" panose="020B0604020202020204" pitchFamily="34" charset="0"/>
            </a:endParaRPr>
          </a:p>
        </p:txBody>
      </p:sp>
      <p:sp>
        <p:nvSpPr>
          <p:cNvPr id="23" name="Arrow: Right 22">
            <a:extLst>
              <a:ext uri="{FF2B5EF4-FFF2-40B4-BE49-F238E27FC236}">
                <a16:creationId xmlns:a16="http://schemas.microsoft.com/office/drawing/2014/main" id="{D826A754-05F7-98DB-13A3-00F4519871EB}"/>
              </a:ext>
            </a:extLst>
          </p:cNvPr>
          <p:cNvSpPr/>
          <p:nvPr/>
        </p:nvSpPr>
        <p:spPr>
          <a:xfrm>
            <a:off x="5527142" y="3170438"/>
            <a:ext cx="769398" cy="517124"/>
          </a:xfrm>
          <a:prstGeom prs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70905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P spid="18" grpId="0"/>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3AE2-4EEC-4D76-9D21-6EEEB0D146A0}"/>
              </a:ext>
            </a:extLst>
          </p:cNvPr>
          <p:cNvSpPr>
            <a:spLocks noGrp="1"/>
          </p:cNvSpPr>
          <p:nvPr>
            <p:ph type="title"/>
          </p:nvPr>
        </p:nvSpPr>
        <p:spPr/>
        <p:txBody>
          <a:bodyPr/>
          <a:lstStyle/>
          <a:p>
            <a:r>
              <a:rPr lang="en-US" dirty="0"/>
              <a:t>Results – </a:t>
            </a:r>
            <a:r>
              <a:rPr lang="en-US" dirty="0" err="1"/>
              <a:t>XGBoost</a:t>
            </a:r>
            <a:endParaRPr lang="en-GB" dirty="0"/>
          </a:p>
        </p:txBody>
      </p:sp>
      <p:sp>
        <p:nvSpPr>
          <p:cNvPr id="6" name="Slide Number Placeholder 5">
            <a:extLst>
              <a:ext uri="{FF2B5EF4-FFF2-40B4-BE49-F238E27FC236}">
                <a16:creationId xmlns:a16="http://schemas.microsoft.com/office/drawing/2014/main" id="{EC65ACC2-3068-4C4F-B1D1-6B9A6CDC0F20}"/>
              </a:ext>
            </a:extLst>
          </p:cNvPr>
          <p:cNvSpPr>
            <a:spLocks noGrp="1"/>
          </p:cNvSpPr>
          <p:nvPr>
            <p:ph type="sldNum" sz="quarter" idx="12"/>
          </p:nvPr>
        </p:nvSpPr>
        <p:spPr/>
        <p:txBody>
          <a:bodyPr/>
          <a:lstStyle/>
          <a:p>
            <a:fld id="{7BABEAAC-62EC-4818-AEB1-30CB1FD7AAFF}" type="slidenum">
              <a:rPr lang="en-GB" smtClean="0"/>
              <a:t>5</a:t>
            </a:fld>
            <a:endParaRPr lang="en-GB" dirty="0"/>
          </a:p>
        </p:txBody>
      </p:sp>
      <p:graphicFrame>
        <p:nvGraphicFramePr>
          <p:cNvPr id="7" name="Table 6">
            <a:extLst>
              <a:ext uri="{FF2B5EF4-FFF2-40B4-BE49-F238E27FC236}">
                <a16:creationId xmlns:a16="http://schemas.microsoft.com/office/drawing/2014/main" id="{15DE3EB5-5C87-9784-DEB8-15B6827BFF5E}"/>
              </a:ext>
            </a:extLst>
          </p:cNvPr>
          <p:cNvGraphicFramePr>
            <a:graphicFrameLocks noGrp="1"/>
          </p:cNvGraphicFramePr>
          <p:nvPr>
            <p:extLst>
              <p:ext uri="{D42A27DB-BD31-4B8C-83A1-F6EECF244321}">
                <p14:modId xmlns:p14="http://schemas.microsoft.com/office/powerpoint/2010/main" val="1335392672"/>
              </p:ext>
            </p:extLst>
          </p:nvPr>
        </p:nvGraphicFramePr>
        <p:xfrm>
          <a:off x="1486111" y="1325684"/>
          <a:ext cx="3734738" cy="3520440"/>
        </p:xfrm>
        <a:graphic>
          <a:graphicData uri="http://schemas.openxmlformats.org/drawingml/2006/table">
            <a:tbl>
              <a:tblPr>
                <a:tableStyleId>{16D9F66E-5EB9-4882-86FB-DCBF35E3C3E4}</a:tableStyleId>
              </a:tblPr>
              <a:tblGrid>
                <a:gridCol w="1867369">
                  <a:extLst>
                    <a:ext uri="{9D8B030D-6E8A-4147-A177-3AD203B41FA5}">
                      <a16:colId xmlns:a16="http://schemas.microsoft.com/office/drawing/2014/main" val="1479075152"/>
                    </a:ext>
                  </a:extLst>
                </a:gridCol>
                <a:gridCol w="1867369">
                  <a:extLst>
                    <a:ext uri="{9D8B030D-6E8A-4147-A177-3AD203B41FA5}">
                      <a16:colId xmlns:a16="http://schemas.microsoft.com/office/drawing/2014/main" val="4232772311"/>
                    </a:ext>
                  </a:extLst>
                </a:gridCol>
              </a:tblGrid>
              <a:tr h="0">
                <a:tc>
                  <a:txBody>
                    <a:bodyPr/>
                    <a:lstStyle/>
                    <a:p>
                      <a:pPr algn="ctr" fontAlgn="b"/>
                      <a:r>
                        <a:rPr lang="en-GB" sz="1500" b="1">
                          <a:solidFill>
                            <a:sysClr val="windowText" lastClr="000000"/>
                          </a:solidFill>
                          <a:effectLst/>
                        </a:rPr>
                        <a:t>Parameter</a:t>
                      </a:r>
                    </a:p>
                  </a:txBody>
                  <a:tcPr anchor="b"/>
                </a:tc>
                <a:tc>
                  <a:txBody>
                    <a:bodyPr/>
                    <a:lstStyle/>
                    <a:p>
                      <a:pPr algn="ctr" fontAlgn="b"/>
                      <a:r>
                        <a:rPr lang="en-GB" sz="1500" b="1" dirty="0">
                          <a:solidFill>
                            <a:sysClr val="windowText" lastClr="000000"/>
                          </a:solidFill>
                          <a:effectLst/>
                        </a:rPr>
                        <a:t>Value</a:t>
                      </a:r>
                    </a:p>
                  </a:txBody>
                  <a:tcPr anchor="b"/>
                </a:tc>
                <a:extLst>
                  <a:ext uri="{0D108BD9-81ED-4DB2-BD59-A6C34878D82A}">
                    <a16:rowId xmlns:a16="http://schemas.microsoft.com/office/drawing/2014/main" val="2957467402"/>
                  </a:ext>
                </a:extLst>
              </a:tr>
              <a:tr h="307318">
                <a:tc>
                  <a:txBody>
                    <a:bodyPr/>
                    <a:lstStyle/>
                    <a:p>
                      <a:pPr algn="ctr" fontAlgn="base"/>
                      <a:r>
                        <a:rPr lang="en-GB" sz="1500">
                          <a:solidFill>
                            <a:sysClr val="windowText" lastClr="000000"/>
                          </a:solidFill>
                          <a:effectLst/>
                        </a:rPr>
                        <a:t>colsample_bytree</a:t>
                      </a:r>
                    </a:p>
                  </a:txBody>
                  <a:tcPr anchor="ctr"/>
                </a:tc>
                <a:tc>
                  <a:txBody>
                    <a:bodyPr/>
                    <a:lstStyle/>
                    <a:p>
                      <a:pPr algn="ctr" fontAlgn="base"/>
                      <a:r>
                        <a:rPr lang="en-GB" sz="1500">
                          <a:solidFill>
                            <a:sysClr val="windowText" lastClr="000000"/>
                          </a:solidFill>
                          <a:effectLst/>
                        </a:rPr>
                        <a:t>0.1</a:t>
                      </a:r>
                    </a:p>
                  </a:txBody>
                  <a:tcPr anchor="ctr"/>
                </a:tc>
                <a:extLst>
                  <a:ext uri="{0D108BD9-81ED-4DB2-BD59-A6C34878D82A}">
                    <a16:rowId xmlns:a16="http://schemas.microsoft.com/office/drawing/2014/main" val="2667987524"/>
                  </a:ext>
                </a:extLst>
              </a:tr>
              <a:tr h="307318">
                <a:tc>
                  <a:txBody>
                    <a:bodyPr/>
                    <a:lstStyle/>
                    <a:p>
                      <a:pPr algn="ctr" fontAlgn="base"/>
                      <a:r>
                        <a:rPr lang="en-GB" sz="1500">
                          <a:solidFill>
                            <a:sysClr val="windowText" lastClr="000000"/>
                          </a:solidFill>
                          <a:effectLst/>
                        </a:rPr>
                        <a:t>learning_rate</a:t>
                      </a:r>
                    </a:p>
                  </a:txBody>
                  <a:tcPr anchor="ctr"/>
                </a:tc>
                <a:tc>
                  <a:txBody>
                    <a:bodyPr/>
                    <a:lstStyle/>
                    <a:p>
                      <a:pPr algn="ctr" fontAlgn="base"/>
                      <a:r>
                        <a:rPr lang="en-GB" sz="1500">
                          <a:solidFill>
                            <a:sysClr val="windowText" lastClr="000000"/>
                          </a:solidFill>
                          <a:effectLst/>
                        </a:rPr>
                        <a:t>0.35</a:t>
                      </a:r>
                    </a:p>
                  </a:txBody>
                  <a:tcPr anchor="ctr"/>
                </a:tc>
                <a:extLst>
                  <a:ext uri="{0D108BD9-81ED-4DB2-BD59-A6C34878D82A}">
                    <a16:rowId xmlns:a16="http://schemas.microsoft.com/office/drawing/2014/main" val="2456463514"/>
                  </a:ext>
                </a:extLst>
              </a:tr>
              <a:tr h="307318">
                <a:tc>
                  <a:txBody>
                    <a:bodyPr/>
                    <a:lstStyle/>
                    <a:p>
                      <a:pPr algn="ctr" fontAlgn="base"/>
                      <a:r>
                        <a:rPr lang="en-GB" sz="1500">
                          <a:solidFill>
                            <a:sysClr val="windowText" lastClr="000000"/>
                          </a:solidFill>
                          <a:effectLst/>
                        </a:rPr>
                        <a:t>max_depth</a:t>
                      </a:r>
                    </a:p>
                  </a:txBody>
                  <a:tcPr anchor="ctr"/>
                </a:tc>
                <a:tc>
                  <a:txBody>
                    <a:bodyPr/>
                    <a:lstStyle/>
                    <a:p>
                      <a:pPr algn="ctr" fontAlgn="base"/>
                      <a:r>
                        <a:rPr lang="en-GB" sz="1500">
                          <a:solidFill>
                            <a:sysClr val="windowText" lastClr="000000"/>
                          </a:solidFill>
                          <a:effectLst/>
                        </a:rPr>
                        <a:t>1</a:t>
                      </a:r>
                    </a:p>
                  </a:txBody>
                  <a:tcPr anchor="ctr"/>
                </a:tc>
                <a:extLst>
                  <a:ext uri="{0D108BD9-81ED-4DB2-BD59-A6C34878D82A}">
                    <a16:rowId xmlns:a16="http://schemas.microsoft.com/office/drawing/2014/main" val="2430919112"/>
                  </a:ext>
                </a:extLst>
              </a:tr>
              <a:tr h="307318">
                <a:tc>
                  <a:txBody>
                    <a:bodyPr/>
                    <a:lstStyle/>
                    <a:p>
                      <a:pPr algn="ctr" fontAlgn="base"/>
                      <a:r>
                        <a:rPr lang="en-GB" sz="1500">
                          <a:solidFill>
                            <a:sysClr val="windowText" lastClr="000000"/>
                          </a:solidFill>
                          <a:effectLst/>
                        </a:rPr>
                        <a:t>n_estimators</a:t>
                      </a:r>
                    </a:p>
                  </a:txBody>
                  <a:tcPr anchor="ctr"/>
                </a:tc>
                <a:tc>
                  <a:txBody>
                    <a:bodyPr/>
                    <a:lstStyle/>
                    <a:p>
                      <a:pPr algn="ctr" fontAlgn="base"/>
                      <a:r>
                        <a:rPr lang="en-GB" sz="1500" dirty="0">
                          <a:solidFill>
                            <a:sysClr val="windowText" lastClr="000000"/>
                          </a:solidFill>
                          <a:effectLst/>
                        </a:rPr>
                        <a:t>160</a:t>
                      </a:r>
                    </a:p>
                  </a:txBody>
                  <a:tcPr anchor="ctr"/>
                </a:tc>
                <a:extLst>
                  <a:ext uri="{0D108BD9-81ED-4DB2-BD59-A6C34878D82A}">
                    <a16:rowId xmlns:a16="http://schemas.microsoft.com/office/drawing/2014/main" val="1201097239"/>
                  </a:ext>
                </a:extLst>
              </a:tr>
              <a:tr h="307318">
                <a:tc>
                  <a:txBody>
                    <a:bodyPr/>
                    <a:lstStyle/>
                    <a:p>
                      <a:pPr algn="ctr" fontAlgn="base"/>
                      <a:r>
                        <a:rPr lang="en-GB" sz="1500">
                          <a:solidFill>
                            <a:sysClr val="windowText" lastClr="000000"/>
                          </a:solidFill>
                          <a:effectLst/>
                        </a:rPr>
                        <a:t>subsample</a:t>
                      </a:r>
                    </a:p>
                  </a:txBody>
                  <a:tcPr anchor="ctr"/>
                </a:tc>
                <a:tc>
                  <a:txBody>
                    <a:bodyPr/>
                    <a:lstStyle/>
                    <a:p>
                      <a:pPr algn="ctr" fontAlgn="base"/>
                      <a:r>
                        <a:rPr lang="en-GB" sz="1500" dirty="0">
                          <a:solidFill>
                            <a:sysClr val="windowText" lastClr="000000"/>
                          </a:solidFill>
                          <a:effectLst/>
                        </a:rPr>
                        <a:t>0.8</a:t>
                      </a:r>
                    </a:p>
                  </a:txBody>
                  <a:tcPr anchor="ctr"/>
                </a:tc>
                <a:extLst>
                  <a:ext uri="{0D108BD9-81ED-4DB2-BD59-A6C34878D82A}">
                    <a16:rowId xmlns:a16="http://schemas.microsoft.com/office/drawing/2014/main" val="3555695462"/>
                  </a:ext>
                </a:extLst>
              </a:tr>
              <a:tr h="307318">
                <a:tc>
                  <a:txBody>
                    <a:bodyPr/>
                    <a:lstStyle/>
                    <a:p>
                      <a:pPr algn="ctr" fontAlgn="base"/>
                      <a:r>
                        <a:rPr lang="en-GB" sz="1500">
                          <a:solidFill>
                            <a:sysClr val="windowText" lastClr="000000"/>
                          </a:solidFill>
                          <a:effectLst/>
                        </a:rPr>
                        <a:t>random_state</a:t>
                      </a:r>
                    </a:p>
                  </a:txBody>
                  <a:tcPr anchor="ctr"/>
                </a:tc>
                <a:tc>
                  <a:txBody>
                    <a:bodyPr/>
                    <a:lstStyle/>
                    <a:p>
                      <a:pPr algn="ctr" fontAlgn="base"/>
                      <a:r>
                        <a:rPr lang="en-GB" sz="1500">
                          <a:solidFill>
                            <a:sysClr val="windowText" lastClr="000000"/>
                          </a:solidFill>
                          <a:effectLst/>
                        </a:rPr>
                        <a:t>42</a:t>
                      </a:r>
                    </a:p>
                  </a:txBody>
                  <a:tcPr anchor="ctr"/>
                </a:tc>
                <a:extLst>
                  <a:ext uri="{0D108BD9-81ED-4DB2-BD59-A6C34878D82A}">
                    <a16:rowId xmlns:a16="http://schemas.microsoft.com/office/drawing/2014/main" val="1351676902"/>
                  </a:ext>
                </a:extLst>
              </a:tr>
              <a:tr h="307318">
                <a:tc>
                  <a:txBody>
                    <a:bodyPr/>
                    <a:lstStyle/>
                    <a:p>
                      <a:pPr algn="ctr" fontAlgn="base"/>
                      <a:r>
                        <a:rPr lang="en-GB" sz="1500" dirty="0" err="1">
                          <a:solidFill>
                            <a:sysClr val="windowText" lastClr="000000"/>
                          </a:solidFill>
                          <a:effectLst/>
                        </a:rPr>
                        <a:t>tree_method</a:t>
                      </a:r>
                      <a:endParaRPr lang="en-GB" sz="1500" dirty="0">
                        <a:solidFill>
                          <a:sysClr val="windowText" lastClr="000000"/>
                        </a:solidFill>
                        <a:effectLst/>
                      </a:endParaRPr>
                    </a:p>
                  </a:txBody>
                  <a:tcPr anchor="ctr"/>
                </a:tc>
                <a:tc>
                  <a:txBody>
                    <a:bodyPr/>
                    <a:lstStyle/>
                    <a:p>
                      <a:pPr algn="ctr" fontAlgn="base"/>
                      <a:r>
                        <a:rPr lang="en-GB" sz="1500" dirty="0">
                          <a:solidFill>
                            <a:sysClr val="windowText" lastClr="000000"/>
                          </a:solidFill>
                          <a:effectLst/>
                        </a:rPr>
                        <a:t>"</a:t>
                      </a:r>
                      <a:r>
                        <a:rPr lang="en-GB" sz="1500" dirty="0" err="1">
                          <a:solidFill>
                            <a:sysClr val="windowText" lastClr="000000"/>
                          </a:solidFill>
                          <a:effectLst/>
                        </a:rPr>
                        <a:t>approx</a:t>
                      </a:r>
                      <a:r>
                        <a:rPr lang="en-GB" sz="1500" dirty="0">
                          <a:solidFill>
                            <a:sysClr val="windowText" lastClr="000000"/>
                          </a:solidFill>
                          <a:effectLst/>
                        </a:rPr>
                        <a:t>"</a:t>
                      </a:r>
                    </a:p>
                  </a:txBody>
                  <a:tcPr anchor="ctr"/>
                </a:tc>
                <a:extLst>
                  <a:ext uri="{0D108BD9-81ED-4DB2-BD59-A6C34878D82A}">
                    <a16:rowId xmlns:a16="http://schemas.microsoft.com/office/drawing/2014/main" val="4194916624"/>
                  </a:ext>
                </a:extLst>
              </a:tr>
              <a:tr h="307318">
                <a:tc>
                  <a:txBody>
                    <a:bodyPr/>
                    <a:lstStyle/>
                    <a:p>
                      <a:pPr algn="ctr" fontAlgn="base"/>
                      <a:r>
                        <a:rPr lang="en-GB" sz="1500">
                          <a:solidFill>
                            <a:sysClr val="windowText" lastClr="000000"/>
                          </a:solidFill>
                          <a:effectLst/>
                        </a:rPr>
                        <a:t>enable_categorical</a:t>
                      </a:r>
                    </a:p>
                  </a:txBody>
                  <a:tcPr anchor="ctr"/>
                </a:tc>
                <a:tc>
                  <a:txBody>
                    <a:bodyPr/>
                    <a:lstStyle/>
                    <a:p>
                      <a:pPr algn="ctr" fontAlgn="base"/>
                      <a:r>
                        <a:rPr lang="en-GB" sz="1500">
                          <a:solidFill>
                            <a:sysClr val="windowText" lastClr="000000"/>
                          </a:solidFill>
                          <a:effectLst/>
                        </a:rPr>
                        <a:t>False</a:t>
                      </a:r>
                    </a:p>
                  </a:txBody>
                  <a:tcPr anchor="ctr"/>
                </a:tc>
                <a:extLst>
                  <a:ext uri="{0D108BD9-81ED-4DB2-BD59-A6C34878D82A}">
                    <a16:rowId xmlns:a16="http://schemas.microsoft.com/office/drawing/2014/main" val="3731580479"/>
                  </a:ext>
                </a:extLst>
              </a:tr>
              <a:tr h="307318">
                <a:tc>
                  <a:txBody>
                    <a:bodyPr/>
                    <a:lstStyle/>
                    <a:p>
                      <a:pPr algn="ctr" fontAlgn="base"/>
                      <a:r>
                        <a:rPr lang="en-GB" sz="1500">
                          <a:solidFill>
                            <a:sysClr val="windowText" lastClr="000000"/>
                          </a:solidFill>
                          <a:effectLst/>
                        </a:rPr>
                        <a:t>use_label_encoder</a:t>
                      </a:r>
                    </a:p>
                  </a:txBody>
                  <a:tcPr anchor="ctr"/>
                </a:tc>
                <a:tc>
                  <a:txBody>
                    <a:bodyPr/>
                    <a:lstStyle/>
                    <a:p>
                      <a:pPr algn="ctr" fontAlgn="base"/>
                      <a:r>
                        <a:rPr lang="en-GB" sz="1500">
                          <a:solidFill>
                            <a:sysClr val="windowText" lastClr="000000"/>
                          </a:solidFill>
                          <a:effectLst/>
                        </a:rPr>
                        <a:t>False</a:t>
                      </a:r>
                    </a:p>
                  </a:txBody>
                  <a:tcPr anchor="ctr"/>
                </a:tc>
                <a:extLst>
                  <a:ext uri="{0D108BD9-81ED-4DB2-BD59-A6C34878D82A}">
                    <a16:rowId xmlns:a16="http://schemas.microsoft.com/office/drawing/2014/main" val="572206271"/>
                  </a:ext>
                </a:extLst>
              </a:tr>
              <a:tr h="307318">
                <a:tc>
                  <a:txBody>
                    <a:bodyPr/>
                    <a:lstStyle/>
                    <a:p>
                      <a:pPr algn="ctr" fontAlgn="base"/>
                      <a:r>
                        <a:rPr lang="en-GB" sz="1500" dirty="0">
                          <a:solidFill>
                            <a:sysClr val="windowText" lastClr="000000"/>
                          </a:solidFill>
                          <a:effectLst/>
                        </a:rPr>
                        <a:t>predictor</a:t>
                      </a:r>
                    </a:p>
                  </a:txBody>
                  <a:tcPr anchor="ctr"/>
                </a:tc>
                <a:tc>
                  <a:txBody>
                    <a:bodyPr/>
                    <a:lstStyle/>
                    <a:p>
                      <a:pPr algn="ctr" fontAlgn="base"/>
                      <a:r>
                        <a:rPr lang="en-GB" sz="1500" dirty="0">
                          <a:solidFill>
                            <a:sysClr val="windowText" lastClr="000000"/>
                          </a:solidFill>
                          <a:effectLst/>
                        </a:rPr>
                        <a:t>'</a:t>
                      </a:r>
                      <a:r>
                        <a:rPr lang="en-GB" sz="1500" dirty="0" err="1">
                          <a:solidFill>
                            <a:sysClr val="windowText" lastClr="000000"/>
                          </a:solidFill>
                          <a:effectLst/>
                        </a:rPr>
                        <a:t>cpu_predictor</a:t>
                      </a:r>
                      <a:r>
                        <a:rPr lang="en-GB" sz="1500" dirty="0">
                          <a:solidFill>
                            <a:sysClr val="windowText" lastClr="000000"/>
                          </a:solidFill>
                          <a:effectLst/>
                        </a:rPr>
                        <a:t>'</a:t>
                      </a:r>
                    </a:p>
                  </a:txBody>
                  <a:tcPr anchor="ctr"/>
                </a:tc>
                <a:extLst>
                  <a:ext uri="{0D108BD9-81ED-4DB2-BD59-A6C34878D82A}">
                    <a16:rowId xmlns:a16="http://schemas.microsoft.com/office/drawing/2014/main" val="196738442"/>
                  </a:ext>
                </a:extLst>
              </a:tr>
            </a:tbl>
          </a:graphicData>
        </a:graphic>
      </p:graphicFrame>
      <p:sp>
        <p:nvSpPr>
          <p:cNvPr id="8" name="Content Placeholder 13">
            <a:extLst>
              <a:ext uri="{FF2B5EF4-FFF2-40B4-BE49-F238E27FC236}">
                <a16:creationId xmlns:a16="http://schemas.microsoft.com/office/drawing/2014/main" id="{F66852AA-78B9-B05C-7F35-B0B52289861C}"/>
              </a:ext>
            </a:extLst>
          </p:cNvPr>
          <p:cNvSpPr txBox="1">
            <a:spLocks/>
          </p:cNvSpPr>
          <p:nvPr/>
        </p:nvSpPr>
        <p:spPr>
          <a:xfrm>
            <a:off x="937089" y="5532316"/>
            <a:ext cx="4832782" cy="1189159"/>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600"/>
              </a:spcBef>
              <a:buFont typeface="Arial" panose="020B0604020202020204" pitchFamily="34" charset="0"/>
              <a:buNone/>
            </a:pPr>
            <a:r>
              <a:rPr lang="en-GB" sz="2000" b="1" dirty="0"/>
              <a:t>Mean cross-validated score =</a:t>
            </a:r>
            <a:r>
              <a:rPr lang="en-GB" sz="1800" b="1" dirty="0">
                <a:solidFill>
                  <a:srgbClr val="000000"/>
                </a:solidFill>
                <a:latin typeface="Calibri" panose="020F0502020204030204" pitchFamily="34" charset="0"/>
              </a:rPr>
              <a:t> </a:t>
            </a:r>
            <a:r>
              <a:rPr lang="en-GB" altLang="ko-KR" sz="1800" dirty="0">
                <a:solidFill>
                  <a:srgbClr val="000000"/>
                </a:solidFill>
                <a:effectLst/>
                <a:latin typeface="Calibri" panose="020F0502020204030204" pitchFamily="34" charset="0"/>
              </a:rPr>
              <a:t>0.911</a:t>
            </a:r>
          </a:p>
          <a:p>
            <a:pPr marL="0" indent="0" algn="ctr">
              <a:lnSpc>
                <a:spcPct val="100000"/>
              </a:lnSpc>
              <a:spcBef>
                <a:spcPts val="600"/>
              </a:spcBef>
              <a:buFont typeface="Arial" panose="020B0604020202020204" pitchFamily="34" charset="0"/>
              <a:buNone/>
            </a:pPr>
            <a:r>
              <a:rPr lang="en-GB" sz="2000" b="1" dirty="0"/>
              <a:t>Accuracy on independent test data = </a:t>
            </a:r>
            <a:r>
              <a:rPr lang="en-GB" altLang="ko-KR" sz="2000" dirty="0">
                <a:solidFill>
                  <a:srgbClr val="000000"/>
                </a:solidFill>
                <a:effectLst/>
                <a:latin typeface="Calibri" panose="020F0502020204030204" pitchFamily="34" charset="0"/>
              </a:rPr>
              <a:t>0.965</a:t>
            </a:r>
          </a:p>
          <a:p>
            <a:pPr marL="0" indent="0" algn="ctr">
              <a:lnSpc>
                <a:spcPct val="100000"/>
              </a:lnSpc>
              <a:spcBef>
                <a:spcPts val="600"/>
              </a:spcBef>
              <a:buFont typeface="Arial" panose="020B0604020202020204" pitchFamily="34" charset="0"/>
              <a:buNone/>
            </a:pPr>
            <a:r>
              <a:rPr lang="en-GB" sz="2000" b="1" dirty="0">
                <a:solidFill>
                  <a:srgbClr val="000000"/>
                </a:solidFill>
                <a:latin typeface="Calibri" panose="020F0502020204030204" pitchFamily="34" charset="0"/>
              </a:rPr>
              <a:t>F1-score = </a:t>
            </a:r>
            <a:r>
              <a:rPr lang="en-GB" sz="2000" dirty="0">
                <a:solidFill>
                  <a:srgbClr val="000000"/>
                </a:solidFill>
                <a:latin typeface="Calibri" panose="020F0502020204030204" pitchFamily="34" charset="0"/>
              </a:rPr>
              <a:t>0.964</a:t>
            </a:r>
            <a:endParaRPr lang="en-US" sz="2000" dirty="0"/>
          </a:p>
        </p:txBody>
      </p:sp>
      <p:sp>
        <p:nvSpPr>
          <p:cNvPr id="13" name="Content Placeholder 13">
            <a:extLst>
              <a:ext uri="{FF2B5EF4-FFF2-40B4-BE49-F238E27FC236}">
                <a16:creationId xmlns:a16="http://schemas.microsoft.com/office/drawing/2014/main" id="{24FAA95E-1D60-7569-D4CB-85435CACF853}"/>
              </a:ext>
            </a:extLst>
          </p:cNvPr>
          <p:cNvSpPr txBox="1">
            <a:spLocks/>
          </p:cNvSpPr>
          <p:nvPr/>
        </p:nvSpPr>
        <p:spPr>
          <a:xfrm>
            <a:off x="1486111" y="4846124"/>
            <a:ext cx="3734738" cy="5815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1200" b="1" dirty="0">
                <a:cs typeface="Arial" panose="020B0604020202020204" pitchFamily="34" charset="0"/>
              </a:rPr>
              <a:t>Table 2. Parameters used for </a:t>
            </a:r>
            <a:r>
              <a:rPr lang="en-GB" sz="1200" b="1" dirty="0" err="1">
                <a:cs typeface="Arial" panose="020B0604020202020204" pitchFamily="34" charset="0"/>
              </a:rPr>
              <a:t>XGBClassifier</a:t>
            </a:r>
            <a:r>
              <a:rPr lang="en-GB" sz="1200" b="1" dirty="0">
                <a:cs typeface="Arial" panose="020B0604020202020204" pitchFamily="34" charset="0"/>
              </a:rPr>
              <a:t>. </a:t>
            </a:r>
            <a:r>
              <a:rPr lang="en-GB" sz="1200" dirty="0">
                <a:cs typeface="Arial" panose="020B0604020202020204" pitchFamily="34" charset="0"/>
              </a:rPr>
              <a:t>Optimal parameters were decided after a series of cross-validated grid searches.</a:t>
            </a:r>
            <a:endParaRPr lang="en-US" sz="1200" dirty="0">
              <a:cs typeface="Arial" panose="020B0604020202020204" pitchFamily="34" charset="0"/>
            </a:endParaRPr>
          </a:p>
        </p:txBody>
      </p:sp>
      <p:pic>
        <p:nvPicPr>
          <p:cNvPr id="35" name="Picture 34">
            <a:extLst>
              <a:ext uri="{FF2B5EF4-FFF2-40B4-BE49-F238E27FC236}">
                <a16:creationId xmlns:a16="http://schemas.microsoft.com/office/drawing/2014/main" id="{4DC27F6B-651E-30F1-3BE3-950977E47242}"/>
              </a:ext>
            </a:extLst>
          </p:cNvPr>
          <p:cNvPicPr>
            <a:picLocks noChangeAspect="1"/>
          </p:cNvPicPr>
          <p:nvPr/>
        </p:nvPicPr>
        <p:blipFill rotWithShape="1">
          <a:blip r:embed="rId2"/>
          <a:srcRect l="1" r="447"/>
          <a:stretch/>
        </p:blipFill>
        <p:spPr>
          <a:xfrm>
            <a:off x="6564925" y="305712"/>
            <a:ext cx="4158475" cy="2005200"/>
          </a:xfrm>
          <a:prstGeom prst="rect">
            <a:avLst/>
          </a:prstGeom>
        </p:spPr>
      </p:pic>
      <p:pic>
        <p:nvPicPr>
          <p:cNvPr id="37" name="Picture 36">
            <a:extLst>
              <a:ext uri="{FF2B5EF4-FFF2-40B4-BE49-F238E27FC236}">
                <a16:creationId xmlns:a16="http://schemas.microsoft.com/office/drawing/2014/main" id="{289118EA-19ED-59A2-A0F1-8A68F0C4AF70}"/>
              </a:ext>
            </a:extLst>
          </p:cNvPr>
          <p:cNvPicPr>
            <a:picLocks noChangeAspect="1"/>
          </p:cNvPicPr>
          <p:nvPr/>
        </p:nvPicPr>
        <p:blipFill>
          <a:blip r:embed="rId3"/>
          <a:stretch>
            <a:fillRect/>
          </a:stretch>
        </p:blipFill>
        <p:spPr>
          <a:xfrm>
            <a:off x="6902570" y="2308521"/>
            <a:ext cx="3839490" cy="1802391"/>
          </a:xfrm>
          <a:prstGeom prst="rect">
            <a:avLst/>
          </a:prstGeom>
        </p:spPr>
      </p:pic>
      <p:pic>
        <p:nvPicPr>
          <p:cNvPr id="39" name="Picture 38">
            <a:extLst>
              <a:ext uri="{FF2B5EF4-FFF2-40B4-BE49-F238E27FC236}">
                <a16:creationId xmlns:a16="http://schemas.microsoft.com/office/drawing/2014/main" id="{3EEDB5F3-3C0A-42D9-FDC4-50F4C4B6A07C}"/>
              </a:ext>
            </a:extLst>
          </p:cNvPr>
          <p:cNvPicPr>
            <a:picLocks noChangeAspect="1"/>
          </p:cNvPicPr>
          <p:nvPr/>
        </p:nvPicPr>
        <p:blipFill>
          <a:blip r:embed="rId4"/>
          <a:stretch>
            <a:fillRect/>
          </a:stretch>
        </p:blipFill>
        <p:spPr>
          <a:xfrm>
            <a:off x="6902569" y="4149531"/>
            <a:ext cx="3820831" cy="1811259"/>
          </a:xfrm>
          <a:prstGeom prst="rect">
            <a:avLst/>
          </a:prstGeom>
        </p:spPr>
      </p:pic>
      <p:sp>
        <p:nvSpPr>
          <p:cNvPr id="42" name="Content Placeholder 13">
            <a:extLst>
              <a:ext uri="{FF2B5EF4-FFF2-40B4-BE49-F238E27FC236}">
                <a16:creationId xmlns:a16="http://schemas.microsoft.com/office/drawing/2014/main" id="{D6178562-BD1D-0164-23AF-70C2663BFDB0}"/>
              </a:ext>
            </a:extLst>
          </p:cNvPr>
          <p:cNvSpPr txBox="1">
            <a:spLocks/>
          </p:cNvSpPr>
          <p:nvPr/>
        </p:nvSpPr>
        <p:spPr>
          <a:xfrm>
            <a:off x="6902569" y="5960790"/>
            <a:ext cx="4229879" cy="8585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200" b="1" dirty="0">
                <a:cs typeface="Arial" panose="020B0604020202020204" pitchFamily="34" charset="0"/>
              </a:rPr>
              <a:t>Figure 5. The plot of the top 5 feature importances for each group. </a:t>
            </a:r>
            <a:r>
              <a:rPr lang="en-GB" sz="1200" dirty="0">
                <a:cs typeface="Arial" panose="020B0604020202020204" pitchFamily="34" charset="0"/>
              </a:rPr>
              <a:t>The mean SHAP value for each value indicates the importance of the variable for the model’s predictions. Group 0 = ‘non-IBD’, 1 = Crohn’s Disease (CD)’, 2 = ‘Ulcerative Colitis (UC).</a:t>
            </a:r>
            <a:endParaRPr lang="en-US" sz="1200" dirty="0">
              <a:cs typeface="Arial" panose="020B0604020202020204" pitchFamily="34" charset="0"/>
            </a:endParaRPr>
          </a:p>
        </p:txBody>
      </p:sp>
    </p:spTree>
    <p:extLst>
      <p:ext uri="{BB962C8B-B14F-4D97-AF65-F5344CB8AC3E}">
        <p14:creationId xmlns:p14="http://schemas.microsoft.com/office/powerpoint/2010/main" val="308196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FEA2B9B-F708-4AA8-BF48-334D26512F64}"/>
              </a:ext>
            </a:extLst>
          </p:cNvPr>
          <p:cNvSpPr>
            <a:spLocks noGrp="1"/>
          </p:cNvSpPr>
          <p:nvPr>
            <p:ph type="title"/>
          </p:nvPr>
        </p:nvSpPr>
        <p:spPr/>
        <p:txBody>
          <a:bodyPr/>
          <a:lstStyle/>
          <a:p>
            <a:r>
              <a:rPr lang="en-US" dirty="0"/>
              <a:t>Discussion</a:t>
            </a:r>
            <a:endParaRPr lang="en-GB" dirty="0"/>
          </a:p>
        </p:txBody>
      </p:sp>
      <p:sp>
        <p:nvSpPr>
          <p:cNvPr id="8" name="Content Placeholder 7">
            <a:extLst>
              <a:ext uri="{FF2B5EF4-FFF2-40B4-BE49-F238E27FC236}">
                <a16:creationId xmlns:a16="http://schemas.microsoft.com/office/drawing/2014/main" id="{75D007EC-158B-49C1-81C9-BD523E916385}"/>
              </a:ext>
            </a:extLst>
          </p:cNvPr>
          <p:cNvSpPr>
            <a:spLocks noGrp="1"/>
          </p:cNvSpPr>
          <p:nvPr>
            <p:ph idx="1"/>
          </p:nvPr>
        </p:nvSpPr>
        <p:spPr/>
        <p:txBody>
          <a:bodyPr>
            <a:normAutofit/>
          </a:bodyPr>
          <a:lstStyle/>
          <a:p>
            <a:r>
              <a:rPr lang="en-US" sz="2600" dirty="0"/>
              <a:t>Main findings</a:t>
            </a:r>
          </a:p>
          <a:p>
            <a:pPr>
              <a:buFontTx/>
              <a:buChar char="-"/>
            </a:pPr>
            <a:r>
              <a:rPr lang="en-US" sz="2200" dirty="0"/>
              <a:t>High accuracy score for both validation (91%) and test data(96%)</a:t>
            </a:r>
          </a:p>
          <a:p>
            <a:pPr>
              <a:buFontTx/>
              <a:buChar char="-"/>
            </a:pPr>
            <a:r>
              <a:rPr lang="en-US" sz="2200" b="1" dirty="0"/>
              <a:t>non-IBD</a:t>
            </a:r>
            <a:r>
              <a:rPr lang="en-US" sz="2200" dirty="0"/>
              <a:t>: highly dependent on </a:t>
            </a:r>
            <a:r>
              <a:rPr lang="en-US" sz="2200" dirty="0" err="1"/>
              <a:t>Phosphocoline</a:t>
            </a:r>
            <a:r>
              <a:rPr lang="en-US" sz="2200" dirty="0"/>
              <a:t> (34:0) (around 0.8)</a:t>
            </a:r>
          </a:p>
          <a:p>
            <a:pPr>
              <a:buFontTx/>
              <a:buChar char="-"/>
            </a:pPr>
            <a:r>
              <a:rPr lang="en-GB" sz="2200" b="1" dirty="0"/>
              <a:t>Crohn’s Disease</a:t>
            </a:r>
            <a:r>
              <a:rPr lang="en-US" sz="2200" dirty="0"/>
              <a:t>: Butyrate and Deoxycholate are the top two predictive variables</a:t>
            </a:r>
          </a:p>
          <a:p>
            <a:pPr>
              <a:buFontTx/>
              <a:buChar char="-"/>
            </a:pPr>
            <a:r>
              <a:rPr lang="en-GB" sz="2200" b="1" dirty="0"/>
              <a:t>Ulcerative colitis </a:t>
            </a:r>
            <a:r>
              <a:rPr lang="en-US" sz="2200" dirty="0"/>
              <a:t>: </a:t>
            </a:r>
            <a:r>
              <a:rPr lang="en-US" sz="2200" dirty="0" err="1"/>
              <a:t>Acetylcarnitine</a:t>
            </a:r>
            <a:r>
              <a:rPr lang="en-US" sz="2200" dirty="0"/>
              <a:t> have the greatest impact (around 0.5)</a:t>
            </a:r>
          </a:p>
          <a:p>
            <a:pPr>
              <a:buFontTx/>
              <a:buChar char="-"/>
            </a:pPr>
            <a:r>
              <a:rPr lang="en-US" sz="2200" dirty="0"/>
              <a:t>Feature importances significantly vary between groups</a:t>
            </a:r>
          </a:p>
          <a:p>
            <a:pPr marL="0" indent="0">
              <a:buNone/>
            </a:pPr>
            <a:endParaRPr lang="en-US" sz="2200" dirty="0"/>
          </a:p>
          <a:p>
            <a:r>
              <a:rPr lang="en-GB" sz="2600" dirty="0"/>
              <a:t>Strengths and limitations of methods</a:t>
            </a:r>
          </a:p>
          <a:p>
            <a:pPr marL="457200" indent="-457200">
              <a:buAutoNum type="arabicPeriod"/>
            </a:pPr>
            <a:r>
              <a:rPr lang="en-GB" sz="2200" b="1" dirty="0"/>
              <a:t>UMAP</a:t>
            </a:r>
            <a:r>
              <a:rPr lang="en-GB" sz="2200" dirty="0"/>
              <a:t>: preserves global structure &lt;-&gt; sensitive to parameter tuning</a:t>
            </a:r>
          </a:p>
          <a:p>
            <a:pPr marL="457200" indent="-457200">
              <a:buAutoNum type="arabicPeriod"/>
            </a:pPr>
            <a:r>
              <a:rPr lang="en-GB" sz="2200" b="1" dirty="0"/>
              <a:t>GMM</a:t>
            </a:r>
            <a:r>
              <a:rPr lang="en-GB" sz="2200" dirty="0"/>
              <a:t>: flexible to various cluster shapes &lt;-&gt; assumes Gaussian distributions</a:t>
            </a:r>
          </a:p>
          <a:p>
            <a:pPr marL="457200" indent="-457200">
              <a:buAutoNum type="arabicPeriod"/>
            </a:pPr>
            <a:r>
              <a:rPr lang="en-GB" sz="2200" b="1" dirty="0" err="1"/>
              <a:t>XGBoost</a:t>
            </a:r>
            <a:r>
              <a:rPr lang="en-GB" sz="2200" dirty="0"/>
              <a:t>: high accuracy and handles missing data &lt;-&gt; sensitive to parameter tuning</a:t>
            </a:r>
          </a:p>
          <a:p>
            <a:endParaRPr lang="en-GB" dirty="0"/>
          </a:p>
        </p:txBody>
      </p:sp>
      <p:sp>
        <p:nvSpPr>
          <p:cNvPr id="5" name="Footer Placeholder 4">
            <a:extLst>
              <a:ext uri="{FF2B5EF4-FFF2-40B4-BE49-F238E27FC236}">
                <a16:creationId xmlns:a16="http://schemas.microsoft.com/office/drawing/2014/main" id="{1F1EBC79-33FF-42D5-B409-FAAA5219E5C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D2EBFDC-F1CE-42C4-B815-281FD88DBE79}"/>
              </a:ext>
            </a:extLst>
          </p:cNvPr>
          <p:cNvSpPr>
            <a:spLocks noGrp="1"/>
          </p:cNvSpPr>
          <p:nvPr>
            <p:ph type="sldNum" sz="quarter" idx="12"/>
          </p:nvPr>
        </p:nvSpPr>
        <p:spPr/>
        <p:txBody>
          <a:bodyPr/>
          <a:lstStyle/>
          <a:p>
            <a:fld id="{7BABEAAC-62EC-4818-AEB1-30CB1FD7AAFF}" type="slidenum">
              <a:rPr lang="en-GB" smtClean="0"/>
              <a:t>6</a:t>
            </a:fld>
            <a:endParaRPr lang="en-GB" dirty="0"/>
          </a:p>
        </p:txBody>
      </p:sp>
    </p:spTree>
    <p:extLst>
      <p:ext uri="{BB962C8B-B14F-4D97-AF65-F5344CB8AC3E}">
        <p14:creationId xmlns:p14="http://schemas.microsoft.com/office/powerpoint/2010/main" val="997447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ACD5-4730-44CB-AE45-2680A056E1DE}"/>
              </a:ext>
            </a:extLst>
          </p:cNvPr>
          <p:cNvSpPr>
            <a:spLocks noGrp="1"/>
          </p:cNvSpPr>
          <p:nvPr>
            <p:ph type="title"/>
          </p:nvPr>
        </p:nvSpPr>
        <p:spPr/>
        <p:txBody>
          <a:bodyPr/>
          <a:lstStyle/>
          <a:p>
            <a:r>
              <a:rPr lang="en-US" dirty="0"/>
              <a:t>Future work and conclusion</a:t>
            </a:r>
            <a:endParaRPr lang="en-GB" dirty="0"/>
          </a:p>
        </p:txBody>
      </p:sp>
      <p:sp>
        <p:nvSpPr>
          <p:cNvPr id="3" name="Content Placeholder 2">
            <a:extLst>
              <a:ext uri="{FF2B5EF4-FFF2-40B4-BE49-F238E27FC236}">
                <a16:creationId xmlns:a16="http://schemas.microsoft.com/office/drawing/2014/main" id="{3E1FB01D-3D5D-498E-A842-86F7398A0D84}"/>
              </a:ext>
            </a:extLst>
          </p:cNvPr>
          <p:cNvSpPr>
            <a:spLocks noGrp="1"/>
          </p:cNvSpPr>
          <p:nvPr>
            <p:ph idx="1"/>
          </p:nvPr>
        </p:nvSpPr>
        <p:spPr/>
        <p:txBody>
          <a:bodyPr>
            <a:normAutofit lnSpcReduction="10000"/>
          </a:bodyPr>
          <a:lstStyle/>
          <a:p>
            <a:r>
              <a:rPr lang="en-US" sz="2600" dirty="0"/>
              <a:t>Future work </a:t>
            </a:r>
          </a:p>
          <a:p>
            <a:pPr marL="0" indent="0">
              <a:buNone/>
            </a:pPr>
            <a:r>
              <a:rPr lang="en-US" sz="2600" dirty="0"/>
              <a:t>-  </a:t>
            </a:r>
            <a:r>
              <a:rPr lang="en-US" sz="2200" dirty="0"/>
              <a:t>One major limitation: different </a:t>
            </a:r>
            <a:r>
              <a:rPr lang="en-US" sz="2200" dirty="0" err="1"/>
              <a:t>random_state</a:t>
            </a:r>
            <a:r>
              <a:rPr lang="en-US" sz="2200" dirty="0"/>
              <a:t> used for </a:t>
            </a:r>
            <a:r>
              <a:rPr lang="en-US" sz="2200" dirty="0" err="1"/>
              <a:t>XGBClassifier</a:t>
            </a:r>
            <a:r>
              <a:rPr lang="en-US" sz="2200" dirty="0"/>
              <a:t> (</a:t>
            </a:r>
            <a:r>
              <a:rPr lang="en-US" sz="2200" dirty="0" err="1"/>
              <a:t>random_state</a:t>
            </a:r>
            <a:r>
              <a:rPr lang="en-US" sz="2200" dirty="0"/>
              <a:t>=42)</a:t>
            </a:r>
          </a:p>
          <a:p>
            <a:pPr>
              <a:buFontTx/>
              <a:buChar char="-"/>
            </a:pPr>
            <a:r>
              <a:rPr lang="en-US" sz="2200" dirty="0"/>
              <a:t>Model stacking with other models (e.g., </a:t>
            </a:r>
            <a:r>
              <a:rPr lang="en-US" sz="2200" dirty="0" err="1"/>
              <a:t>LightGBM</a:t>
            </a:r>
            <a:r>
              <a:rPr lang="en-US" sz="2200" dirty="0"/>
              <a:t>)</a:t>
            </a:r>
          </a:p>
          <a:p>
            <a:pPr>
              <a:buFontTx/>
              <a:buChar char="-"/>
            </a:pPr>
            <a:r>
              <a:rPr lang="en-US" sz="2200" dirty="0"/>
              <a:t>Resolve class imbalance (e.g., over-sampling the minority class by SMOTE algorithm)</a:t>
            </a:r>
          </a:p>
          <a:p>
            <a:pPr marL="0" indent="0">
              <a:buNone/>
            </a:pPr>
            <a:endParaRPr lang="en-US" sz="2600" dirty="0"/>
          </a:p>
          <a:p>
            <a:r>
              <a:rPr lang="en-GB" sz="2600" dirty="0"/>
              <a:t>Conclusion</a:t>
            </a:r>
          </a:p>
          <a:p>
            <a:pPr>
              <a:buFontTx/>
              <a:buChar char="-"/>
            </a:pPr>
            <a:r>
              <a:rPr lang="en-GB" sz="2200" b="1" dirty="0"/>
              <a:t>91%</a:t>
            </a:r>
            <a:r>
              <a:rPr lang="en-GB" sz="2200" dirty="0"/>
              <a:t> performance on validation data </a:t>
            </a:r>
          </a:p>
          <a:p>
            <a:pPr>
              <a:buFontTx/>
              <a:buChar char="-"/>
            </a:pPr>
            <a:r>
              <a:rPr lang="en-GB" sz="2200" b="1" dirty="0"/>
              <a:t>96%</a:t>
            </a:r>
            <a:r>
              <a:rPr lang="en-GB" sz="2200" dirty="0"/>
              <a:t> on independent test data</a:t>
            </a:r>
          </a:p>
          <a:p>
            <a:pPr>
              <a:buFontTx/>
              <a:buChar char="-"/>
            </a:pPr>
            <a:r>
              <a:rPr lang="en-GB" sz="2200" b="1" dirty="0"/>
              <a:t>non-IBD</a:t>
            </a:r>
            <a:r>
              <a:rPr lang="en-GB" sz="2200" dirty="0"/>
              <a:t>:</a:t>
            </a:r>
            <a:r>
              <a:rPr lang="en-US" sz="2200" dirty="0"/>
              <a:t> </a:t>
            </a:r>
            <a:r>
              <a:rPr lang="en-US" sz="2200" dirty="0" err="1"/>
              <a:t>Phosphocoline</a:t>
            </a:r>
            <a:r>
              <a:rPr lang="en-US" sz="2200" dirty="0"/>
              <a:t> (34:0)</a:t>
            </a:r>
            <a:r>
              <a:rPr lang="en-GB" sz="2200" i="0" dirty="0">
                <a:solidFill>
                  <a:srgbClr val="0D0D0D"/>
                </a:solidFill>
                <a:effectLst/>
                <a:highlight>
                  <a:srgbClr val="FFFFFF"/>
                </a:highlight>
                <a:latin typeface="ui-sans-serif"/>
              </a:rPr>
              <a:t>, </a:t>
            </a:r>
            <a:r>
              <a:rPr lang="en-GB" sz="2200" i="0" dirty="0" err="1">
                <a:solidFill>
                  <a:srgbClr val="0D0D0D"/>
                </a:solidFill>
                <a:effectLst/>
                <a:highlight>
                  <a:srgbClr val="FFFFFF"/>
                </a:highlight>
                <a:latin typeface="ui-sans-serif"/>
              </a:rPr>
              <a:t>Furoylglycine</a:t>
            </a:r>
            <a:r>
              <a:rPr lang="en-GB" sz="2200" i="0" dirty="0">
                <a:solidFill>
                  <a:srgbClr val="0D0D0D"/>
                </a:solidFill>
                <a:effectLst/>
                <a:highlight>
                  <a:srgbClr val="FFFFFF"/>
                </a:highlight>
                <a:latin typeface="ui-sans-serif"/>
              </a:rPr>
              <a:t>, </a:t>
            </a:r>
            <a:r>
              <a:rPr lang="en-GB" sz="2200" i="0" dirty="0" err="1">
                <a:solidFill>
                  <a:srgbClr val="0D0D0D"/>
                </a:solidFill>
                <a:effectLst/>
                <a:highlight>
                  <a:srgbClr val="FFFFFF"/>
                </a:highlight>
                <a:latin typeface="ui-sans-serif"/>
              </a:rPr>
              <a:t>Adrenate</a:t>
            </a:r>
            <a:endParaRPr lang="en-GB" sz="2200" i="0" dirty="0">
              <a:solidFill>
                <a:srgbClr val="0D0D0D"/>
              </a:solidFill>
              <a:effectLst/>
              <a:highlight>
                <a:srgbClr val="FFFFFF"/>
              </a:highlight>
              <a:latin typeface="ui-sans-serif"/>
            </a:endParaRPr>
          </a:p>
          <a:p>
            <a:pPr>
              <a:buFontTx/>
              <a:buChar char="-"/>
            </a:pPr>
            <a:r>
              <a:rPr lang="en-GB" sz="2200" b="1" dirty="0"/>
              <a:t>Crohn’s Disease</a:t>
            </a:r>
            <a:r>
              <a:rPr lang="en-GB" sz="2200" dirty="0"/>
              <a:t>: </a:t>
            </a:r>
            <a:r>
              <a:rPr lang="en-US" sz="2200" dirty="0"/>
              <a:t>Butyrate, Deoxycholate, </a:t>
            </a:r>
            <a:r>
              <a:rPr lang="en-US" sz="2200" dirty="0" err="1"/>
              <a:t>Oleoylcarnitine</a:t>
            </a:r>
            <a:endParaRPr lang="en-US" sz="2200" dirty="0"/>
          </a:p>
          <a:p>
            <a:pPr>
              <a:buFontTx/>
              <a:buChar char="-"/>
            </a:pPr>
            <a:r>
              <a:rPr lang="en-GB" sz="2200" b="1" dirty="0"/>
              <a:t>Ulcerative colitis</a:t>
            </a:r>
            <a:r>
              <a:rPr lang="en-US" sz="2200" dirty="0"/>
              <a:t>: </a:t>
            </a:r>
            <a:r>
              <a:rPr lang="en-US" sz="2200" dirty="0" err="1"/>
              <a:t>Acetylcarnitine</a:t>
            </a:r>
            <a:r>
              <a:rPr lang="en-US" sz="2200" dirty="0"/>
              <a:t>, </a:t>
            </a:r>
            <a:r>
              <a:rPr lang="en-US" sz="2200" dirty="0" err="1"/>
              <a:t>Ethylglucuronide</a:t>
            </a:r>
            <a:r>
              <a:rPr lang="en-US" sz="2200" dirty="0"/>
              <a:t>, Salicylate</a:t>
            </a:r>
          </a:p>
        </p:txBody>
      </p:sp>
      <p:sp>
        <p:nvSpPr>
          <p:cNvPr id="4" name="Footer Placeholder 3">
            <a:extLst>
              <a:ext uri="{FF2B5EF4-FFF2-40B4-BE49-F238E27FC236}">
                <a16:creationId xmlns:a16="http://schemas.microsoft.com/office/drawing/2014/main" id="{9D5B113C-D378-48C0-B028-98BCF900F337}"/>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F7E07DE0-6B07-43B1-B591-70FA3EBD9A09}"/>
              </a:ext>
            </a:extLst>
          </p:cNvPr>
          <p:cNvSpPr>
            <a:spLocks noGrp="1"/>
          </p:cNvSpPr>
          <p:nvPr>
            <p:ph type="sldNum" sz="quarter" idx="12"/>
          </p:nvPr>
        </p:nvSpPr>
        <p:spPr/>
        <p:txBody>
          <a:bodyPr/>
          <a:lstStyle/>
          <a:p>
            <a:fld id="{7BABEAAC-62EC-4818-AEB1-30CB1FD7AAFF}" type="slidenum">
              <a:rPr lang="en-GB" smtClean="0"/>
              <a:t>7</a:t>
            </a:fld>
            <a:endParaRPr lang="en-GB" dirty="0"/>
          </a:p>
        </p:txBody>
      </p:sp>
    </p:spTree>
    <p:extLst>
      <p:ext uri="{BB962C8B-B14F-4D97-AF65-F5344CB8AC3E}">
        <p14:creationId xmlns:p14="http://schemas.microsoft.com/office/powerpoint/2010/main" val="73352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8FF8D-5AE9-44F0-8EA6-07183CBF61D2}"/>
              </a:ext>
            </a:extLst>
          </p:cNvPr>
          <p:cNvSpPr>
            <a:spLocks noGrp="1"/>
          </p:cNvSpPr>
          <p:nvPr>
            <p:ph type="title"/>
          </p:nvPr>
        </p:nvSpPr>
        <p:spPr/>
        <p:txBody>
          <a:bodyPr/>
          <a:lstStyle/>
          <a:p>
            <a:r>
              <a:rPr lang="en-US" dirty="0"/>
              <a:t>References</a:t>
            </a:r>
            <a:endParaRPr lang="en-GB" dirty="0"/>
          </a:p>
        </p:txBody>
      </p:sp>
      <p:sp>
        <p:nvSpPr>
          <p:cNvPr id="3" name="Content Placeholder 2">
            <a:extLst>
              <a:ext uri="{FF2B5EF4-FFF2-40B4-BE49-F238E27FC236}">
                <a16:creationId xmlns:a16="http://schemas.microsoft.com/office/drawing/2014/main" id="{2CCE9339-4410-4083-8CD3-CB34D732C023}"/>
              </a:ext>
            </a:extLst>
          </p:cNvPr>
          <p:cNvSpPr>
            <a:spLocks noGrp="1"/>
          </p:cNvSpPr>
          <p:nvPr>
            <p:ph idx="1"/>
          </p:nvPr>
        </p:nvSpPr>
        <p:spPr/>
        <p:txBody>
          <a:bodyPr>
            <a:normAutofit fontScale="62500" lnSpcReduction="20000"/>
          </a:bodyPr>
          <a:lstStyle/>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Van Rossum, G., &amp; Drake, F. L. (2009). </a:t>
            </a:r>
            <a:r>
              <a:rPr lang="en-GB" b="0" i="1" dirty="0">
                <a:solidFill>
                  <a:srgbClr val="0D0D0D"/>
                </a:solidFill>
                <a:effectLst/>
                <a:highlight>
                  <a:srgbClr val="FFFFFF"/>
                </a:highlight>
                <a:latin typeface="Arial" panose="020B0604020202020204" pitchFamily="34" charset="0"/>
                <a:cs typeface="Arial" panose="020B0604020202020204" pitchFamily="34" charset="0"/>
              </a:rPr>
              <a:t>Python 3 Reference Manual</a:t>
            </a:r>
            <a:r>
              <a:rPr lang="en-GB" b="0" i="0" dirty="0">
                <a:solidFill>
                  <a:srgbClr val="0D0D0D"/>
                </a:solidFill>
                <a:effectLst/>
                <a:highlight>
                  <a:srgbClr val="FFFFFF"/>
                </a:highlight>
                <a:latin typeface="Arial" panose="020B0604020202020204" pitchFamily="34" charset="0"/>
                <a:cs typeface="Arial" panose="020B0604020202020204" pitchFamily="34" charset="0"/>
              </a:rPr>
              <a:t>.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Scotts</a:t>
            </a:r>
            <a:r>
              <a:rPr lang="en-GB" b="0" i="0" dirty="0">
                <a:solidFill>
                  <a:srgbClr val="0D0D0D"/>
                </a:solidFill>
                <a:effectLst/>
                <a:highlight>
                  <a:srgbClr val="FFFFFF"/>
                </a:highlight>
                <a:latin typeface="Arial" panose="020B0604020202020204" pitchFamily="34" charset="0"/>
                <a:cs typeface="Arial" panose="020B0604020202020204" pitchFamily="34" charset="0"/>
              </a:rPr>
              <a:t> Valley, CA: CreateSpace.</a:t>
            </a: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Harris, C. R., Millman, K. J., van der Walt, S. J., et al. (2020). Array programming with NumPy. </a:t>
            </a:r>
            <a:r>
              <a:rPr lang="en-GB" b="0" i="1" dirty="0">
                <a:solidFill>
                  <a:srgbClr val="0D0D0D"/>
                </a:solidFill>
                <a:effectLst/>
                <a:highlight>
                  <a:srgbClr val="FFFFFF"/>
                </a:highlight>
                <a:latin typeface="Arial" panose="020B0604020202020204" pitchFamily="34" charset="0"/>
                <a:cs typeface="Arial" panose="020B0604020202020204" pitchFamily="34" charset="0"/>
              </a:rPr>
              <a:t>Nature, 585</a:t>
            </a:r>
            <a:r>
              <a:rPr lang="en-GB" b="0" i="0" dirty="0">
                <a:solidFill>
                  <a:srgbClr val="0D0D0D"/>
                </a:solidFill>
                <a:effectLst/>
                <a:highlight>
                  <a:srgbClr val="FFFFFF"/>
                </a:highlight>
                <a:latin typeface="Arial" panose="020B0604020202020204" pitchFamily="34" charset="0"/>
                <a:cs typeface="Arial" panose="020B0604020202020204" pitchFamily="34" charset="0"/>
              </a:rPr>
              <a:t>, 357-362.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3"/>
              </a:rPr>
              <a:t>https://doi.org/10.1038/s41586-020-2649-2</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The pandas development team. (2024). </a:t>
            </a:r>
            <a:r>
              <a:rPr lang="en-GB" b="0" i="1" dirty="0">
                <a:solidFill>
                  <a:srgbClr val="0D0D0D"/>
                </a:solidFill>
                <a:effectLst/>
                <a:highlight>
                  <a:srgbClr val="FFFFFF"/>
                </a:highlight>
                <a:latin typeface="Arial" panose="020B0604020202020204" pitchFamily="34" charset="0"/>
                <a:cs typeface="Arial" panose="020B0604020202020204" pitchFamily="34" charset="0"/>
              </a:rPr>
              <a:t>pandas-dev/pandas: Pandas (v2.2.2)</a:t>
            </a:r>
            <a:r>
              <a:rPr lang="en-GB" b="0" i="0" dirty="0">
                <a:solidFill>
                  <a:srgbClr val="0D0D0D"/>
                </a:solidFill>
                <a:effectLst/>
                <a:highlight>
                  <a:srgbClr val="FFFFFF"/>
                </a:highlight>
                <a:latin typeface="Arial" panose="020B0604020202020204" pitchFamily="34" charset="0"/>
                <a:cs typeface="Arial" panose="020B0604020202020204" pitchFamily="34" charset="0"/>
              </a:rPr>
              <a:t>.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Zenodo</a:t>
            </a:r>
            <a:r>
              <a:rPr lang="en-GB" b="0" i="0" dirty="0">
                <a:solidFill>
                  <a:srgbClr val="0D0D0D"/>
                </a:solidFill>
                <a:effectLst/>
                <a:highlight>
                  <a:srgbClr val="FFFFFF"/>
                </a:highlight>
                <a:latin typeface="Arial" panose="020B0604020202020204" pitchFamily="34" charset="0"/>
                <a:cs typeface="Arial" panose="020B0604020202020204" pitchFamily="34" charset="0"/>
              </a:rPr>
              <a:t>.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4"/>
              </a:rPr>
              <a:t>https://doi.org/10.5281/zenodo.10957263</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The Matplotlib Development Team. (2024). </a:t>
            </a:r>
            <a:r>
              <a:rPr lang="en-GB" b="0" i="1" dirty="0">
                <a:solidFill>
                  <a:srgbClr val="0D0D0D"/>
                </a:solidFill>
                <a:effectLst/>
                <a:highlight>
                  <a:srgbClr val="FFFFFF"/>
                </a:highlight>
                <a:latin typeface="Arial" panose="020B0604020202020204" pitchFamily="34" charset="0"/>
                <a:cs typeface="Arial" panose="020B0604020202020204" pitchFamily="34" charset="0"/>
              </a:rPr>
              <a:t>Matplotlib: Visualization with Python (v3.9.0)</a:t>
            </a:r>
            <a:r>
              <a:rPr lang="en-GB" b="0" i="0" dirty="0">
                <a:solidFill>
                  <a:srgbClr val="0D0D0D"/>
                </a:solidFill>
                <a:effectLst/>
                <a:highlight>
                  <a:srgbClr val="FFFFFF"/>
                </a:highlight>
                <a:latin typeface="Arial" panose="020B0604020202020204" pitchFamily="34" charset="0"/>
                <a:cs typeface="Arial" panose="020B0604020202020204" pitchFamily="34" charset="0"/>
              </a:rPr>
              <a:t>.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Zenodo</a:t>
            </a:r>
            <a:r>
              <a:rPr lang="en-GB" b="0" i="0" dirty="0">
                <a:solidFill>
                  <a:srgbClr val="0D0D0D"/>
                </a:solidFill>
                <a:effectLst/>
                <a:highlight>
                  <a:srgbClr val="FFFFFF"/>
                </a:highlight>
                <a:latin typeface="Arial" panose="020B0604020202020204" pitchFamily="34" charset="0"/>
                <a:cs typeface="Arial" panose="020B0604020202020204" pitchFamily="34" charset="0"/>
              </a:rPr>
              <a:t>.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5"/>
              </a:rPr>
              <a:t>https://doi.org/10.5281/zenodo.11201097</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Waskom, M. L. (2021). seaborn: statistical data visualization. </a:t>
            </a:r>
            <a:r>
              <a:rPr lang="en-GB" b="0" i="1" dirty="0">
                <a:solidFill>
                  <a:srgbClr val="0D0D0D"/>
                </a:solidFill>
                <a:effectLst/>
                <a:highlight>
                  <a:srgbClr val="FFFFFF"/>
                </a:highlight>
                <a:latin typeface="Arial" panose="020B0604020202020204" pitchFamily="34" charset="0"/>
                <a:cs typeface="Arial" panose="020B0604020202020204" pitchFamily="34" charset="0"/>
              </a:rPr>
              <a:t>Journal of Open Source Software, 6</a:t>
            </a:r>
            <a:r>
              <a:rPr lang="en-GB" b="0" i="0" dirty="0">
                <a:solidFill>
                  <a:srgbClr val="0D0D0D"/>
                </a:solidFill>
                <a:effectLst/>
                <a:highlight>
                  <a:srgbClr val="FFFFFF"/>
                </a:highlight>
                <a:latin typeface="Arial" panose="020B0604020202020204" pitchFamily="34" charset="0"/>
                <a:cs typeface="Arial" panose="020B0604020202020204" pitchFamily="34" charset="0"/>
              </a:rPr>
              <a:t>(60), 3021.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6"/>
              </a:rPr>
              <a:t>https://doi.org/10.21105/joss.03021</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err="1">
                <a:solidFill>
                  <a:srgbClr val="0D0D0D"/>
                </a:solidFill>
                <a:effectLst/>
                <a:highlight>
                  <a:srgbClr val="FFFFFF"/>
                </a:highlight>
                <a:latin typeface="Arial" panose="020B0604020202020204" pitchFamily="34" charset="0"/>
                <a:cs typeface="Arial" panose="020B0604020202020204" pitchFamily="34" charset="0"/>
              </a:rPr>
              <a:t>Pedregosa</a:t>
            </a:r>
            <a:r>
              <a:rPr lang="en-GB" b="0" i="0" dirty="0">
                <a:solidFill>
                  <a:srgbClr val="0D0D0D"/>
                </a:solidFill>
                <a:effectLst/>
                <a:highlight>
                  <a:srgbClr val="FFFFFF"/>
                </a:highlight>
                <a:latin typeface="Arial" panose="020B0604020202020204" pitchFamily="34" charset="0"/>
                <a:cs typeface="Arial" panose="020B0604020202020204" pitchFamily="34" charset="0"/>
              </a:rPr>
              <a:t>, F.,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Varoquaux</a:t>
            </a:r>
            <a:r>
              <a:rPr lang="en-GB" b="0" i="0" dirty="0">
                <a:solidFill>
                  <a:srgbClr val="0D0D0D"/>
                </a:solidFill>
                <a:effectLst/>
                <a:highlight>
                  <a:srgbClr val="FFFFFF"/>
                </a:highlight>
                <a:latin typeface="Arial" panose="020B0604020202020204" pitchFamily="34" charset="0"/>
                <a:cs typeface="Arial" panose="020B0604020202020204" pitchFamily="34" charset="0"/>
              </a:rPr>
              <a:t>, G.,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Gramfort</a:t>
            </a:r>
            <a:r>
              <a:rPr lang="en-GB" b="0" i="0" dirty="0">
                <a:solidFill>
                  <a:srgbClr val="0D0D0D"/>
                </a:solidFill>
                <a:effectLst/>
                <a:highlight>
                  <a:srgbClr val="FFFFFF"/>
                </a:highlight>
                <a:latin typeface="Arial" panose="020B0604020202020204" pitchFamily="34" charset="0"/>
                <a:cs typeface="Arial" panose="020B0604020202020204" pitchFamily="34" charset="0"/>
              </a:rPr>
              <a:t>, A., et al. (2011). Scikit-learn: Machine learning in Python. </a:t>
            </a:r>
            <a:r>
              <a:rPr lang="en-GB" b="0" i="1" dirty="0">
                <a:solidFill>
                  <a:srgbClr val="0D0D0D"/>
                </a:solidFill>
                <a:effectLst/>
                <a:highlight>
                  <a:srgbClr val="FFFFFF"/>
                </a:highlight>
                <a:latin typeface="Arial" panose="020B0604020202020204" pitchFamily="34" charset="0"/>
                <a:cs typeface="Arial" panose="020B0604020202020204" pitchFamily="34" charset="0"/>
              </a:rPr>
              <a:t>Journal of Machine Learning Research, 12</a:t>
            </a:r>
            <a:r>
              <a:rPr lang="en-GB" b="0" i="0" dirty="0">
                <a:solidFill>
                  <a:srgbClr val="0D0D0D"/>
                </a:solidFill>
                <a:effectLst/>
                <a:highlight>
                  <a:srgbClr val="FFFFFF"/>
                </a:highlight>
                <a:latin typeface="Arial" panose="020B0604020202020204" pitchFamily="34" charset="0"/>
                <a:cs typeface="Arial" panose="020B0604020202020204" pitchFamily="34" charset="0"/>
              </a:rPr>
              <a:t>, 2825-2830.</a:t>
            </a: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McInnes, L., Healy, J., Saul, N., &amp;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Grossberger</a:t>
            </a:r>
            <a:r>
              <a:rPr lang="en-GB" b="0" i="0" dirty="0">
                <a:solidFill>
                  <a:srgbClr val="0D0D0D"/>
                </a:solidFill>
                <a:effectLst/>
                <a:highlight>
                  <a:srgbClr val="FFFFFF"/>
                </a:highlight>
                <a:latin typeface="Arial" panose="020B0604020202020204" pitchFamily="34" charset="0"/>
                <a:cs typeface="Arial" panose="020B0604020202020204" pitchFamily="34" charset="0"/>
              </a:rPr>
              <a:t>, L. (2018). UMAP: Uniform manifold approximation and projection. </a:t>
            </a:r>
            <a:r>
              <a:rPr lang="en-GB" b="0" i="1" dirty="0">
                <a:solidFill>
                  <a:srgbClr val="0D0D0D"/>
                </a:solidFill>
                <a:effectLst/>
                <a:highlight>
                  <a:srgbClr val="FFFFFF"/>
                </a:highlight>
                <a:latin typeface="Arial" panose="020B0604020202020204" pitchFamily="34" charset="0"/>
                <a:cs typeface="Arial" panose="020B0604020202020204" pitchFamily="34" charset="0"/>
              </a:rPr>
              <a:t>Journal of Open Source Software, 3</a:t>
            </a:r>
            <a:r>
              <a:rPr lang="en-GB" b="0" i="0" dirty="0">
                <a:solidFill>
                  <a:srgbClr val="0D0D0D"/>
                </a:solidFill>
                <a:effectLst/>
                <a:highlight>
                  <a:srgbClr val="FFFFFF"/>
                </a:highlight>
                <a:latin typeface="Arial" panose="020B0604020202020204" pitchFamily="34" charset="0"/>
                <a:cs typeface="Arial" panose="020B0604020202020204" pitchFamily="34" charset="0"/>
              </a:rPr>
              <a:t>(29), 861.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7"/>
              </a:rPr>
              <a:t>https://doi.org/10.21105/joss.00861</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Chen, T., &amp;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Guestrin</a:t>
            </a:r>
            <a:r>
              <a:rPr lang="en-GB" b="0" i="0" dirty="0">
                <a:solidFill>
                  <a:srgbClr val="0D0D0D"/>
                </a:solidFill>
                <a:effectLst/>
                <a:highlight>
                  <a:srgbClr val="FFFFFF"/>
                </a:highlight>
                <a:latin typeface="Arial" panose="020B0604020202020204" pitchFamily="34" charset="0"/>
                <a:cs typeface="Arial" panose="020B0604020202020204" pitchFamily="34" charset="0"/>
              </a:rPr>
              <a:t>, C. (2016). </a:t>
            </a:r>
            <a:r>
              <a:rPr lang="en-GB" b="0" i="0" dirty="0" err="1">
                <a:solidFill>
                  <a:srgbClr val="0D0D0D"/>
                </a:solidFill>
                <a:effectLst/>
                <a:highlight>
                  <a:srgbClr val="FFFFFF"/>
                </a:highlight>
                <a:latin typeface="Arial" panose="020B0604020202020204" pitchFamily="34" charset="0"/>
                <a:cs typeface="Arial" panose="020B0604020202020204" pitchFamily="34" charset="0"/>
              </a:rPr>
              <a:t>XGBoost</a:t>
            </a:r>
            <a:r>
              <a:rPr lang="en-GB" b="0" i="0" dirty="0">
                <a:solidFill>
                  <a:srgbClr val="0D0D0D"/>
                </a:solidFill>
                <a:effectLst/>
                <a:highlight>
                  <a:srgbClr val="FFFFFF"/>
                </a:highlight>
                <a:latin typeface="Arial" panose="020B0604020202020204" pitchFamily="34" charset="0"/>
                <a:cs typeface="Arial" panose="020B0604020202020204" pitchFamily="34" charset="0"/>
              </a:rPr>
              <a:t>: A scalable tree boosting system. In </a:t>
            </a:r>
            <a:r>
              <a:rPr lang="en-GB" b="0" i="1" dirty="0">
                <a:solidFill>
                  <a:srgbClr val="0D0D0D"/>
                </a:solidFill>
                <a:effectLst/>
                <a:highlight>
                  <a:srgbClr val="FFFFFF"/>
                </a:highlight>
                <a:latin typeface="Arial" panose="020B0604020202020204" pitchFamily="34" charset="0"/>
                <a:cs typeface="Arial" panose="020B0604020202020204" pitchFamily="34" charset="0"/>
              </a:rPr>
              <a:t>Proceedings of the 22nd ACM SIGKDD International Conference on Knowledge Discovery and Data Mining</a:t>
            </a:r>
            <a:r>
              <a:rPr lang="en-GB" b="0" i="0" dirty="0">
                <a:solidFill>
                  <a:srgbClr val="0D0D0D"/>
                </a:solidFill>
                <a:effectLst/>
                <a:highlight>
                  <a:srgbClr val="FFFFFF"/>
                </a:highlight>
                <a:latin typeface="Arial" panose="020B0604020202020204" pitchFamily="34" charset="0"/>
                <a:cs typeface="Arial" panose="020B0604020202020204" pitchFamily="34" charset="0"/>
              </a:rPr>
              <a:t> (pp. 785-794). New York, NY, USA: ACM.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8"/>
              </a:rPr>
              <a:t>https://doi.org/10.1145/2939672.2939785</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a:p>
            <a:pPr algn="l">
              <a:buFont typeface="+mj-lt"/>
              <a:buAutoNum type="arabicPeriod"/>
            </a:pPr>
            <a:r>
              <a:rPr lang="en-GB" b="0" i="0" dirty="0">
                <a:solidFill>
                  <a:srgbClr val="0D0D0D"/>
                </a:solidFill>
                <a:effectLst/>
                <a:highlight>
                  <a:srgbClr val="FFFFFF"/>
                </a:highlight>
                <a:latin typeface="Arial" panose="020B0604020202020204" pitchFamily="34" charset="0"/>
                <a:cs typeface="Arial" panose="020B0604020202020204" pitchFamily="34" charset="0"/>
              </a:rPr>
              <a:t>Gillies, S., et al. (2007). </a:t>
            </a:r>
            <a:r>
              <a:rPr lang="en-GB" b="0" i="1" dirty="0">
                <a:solidFill>
                  <a:srgbClr val="0D0D0D"/>
                </a:solidFill>
                <a:effectLst/>
                <a:highlight>
                  <a:srgbClr val="FFFFFF"/>
                </a:highlight>
                <a:latin typeface="Arial" panose="020B0604020202020204" pitchFamily="34" charset="0"/>
                <a:cs typeface="Arial" panose="020B0604020202020204" pitchFamily="34" charset="0"/>
              </a:rPr>
              <a:t>Shapely: manipulation and analysis of geometric objects</a:t>
            </a:r>
            <a:r>
              <a:rPr lang="en-GB" b="0" i="0" dirty="0">
                <a:solidFill>
                  <a:srgbClr val="0D0D0D"/>
                </a:solidFill>
                <a:effectLst/>
                <a:highlight>
                  <a:srgbClr val="FFFFFF"/>
                </a:highlight>
                <a:latin typeface="Arial" panose="020B0604020202020204" pitchFamily="34" charset="0"/>
                <a:cs typeface="Arial" panose="020B0604020202020204" pitchFamily="34" charset="0"/>
              </a:rPr>
              <a:t>. Retrieved from </a:t>
            </a:r>
            <a:r>
              <a:rPr lang="en-GB" b="0" i="0" u="none" strike="noStrike" dirty="0">
                <a:solidFill>
                  <a:srgbClr val="0D0D0D"/>
                </a:solidFill>
                <a:effectLst/>
                <a:highlight>
                  <a:srgbClr val="FFFFFF"/>
                </a:highlight>
                <a:latin typeface="Arial" panose="020B0604020202020204" pitchFamily="34" charset="0"/>
                <a:cs typeface="Arial" panose="020B0604020202020204" pitchFamily="34" charset="0"/>
                <a:hlinkClick r:id="rId9"/>
              </a:rPr>
              <a:t>https://github.com/Toblerity/Shapely</a:t>
            </a:r>
            <a:endParaRPr lang="en-GB" b="0" i="0" dirty="0">
              <a:solidFill>
                <a:srgbClr val="0D0D0D"/>
              </a:solidFill>
              <a:effectLst/>
              <a:highlight>
                <a:srgbClr val="FFFFFF"/>
              </a:highlight>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1B90661-F391-4509-8C3A-5321D81A4652}"/>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0CBB7C98-0AE7-4F80-B54C-D5C57C93CB82}"/>
              </a:ext>
            </a:extLst>
          </p:cNvPr>
          <p:cNvSpPr>
            <a:spLocks noGrp="1"/>
          </p:cNvSpPr>
          <p:nvPr>
            <p:ph type="sldNum" sz="quarter" idx="12"/>
          </p:nvPr>
        </p:nvSpPr>
        <p:spPr/>
        <p:txBody>
          <a:bodyPr/>
          <a:lstStyle/>
          <a:p>
            <a:fld id="{7BABEAAC-62EC-4818-AEB1-30CB1FD7AAFF}" type="slidenum">
              <a:rPr lang="en-GB" smtClean="0"/>
              <a:t>8</a:t>
            </a:fld>
            <a:endParaRPr lang="en-GB" dirty="0"/>
          </a:p>
        </p:txBody>
      </p:sp>
    </p:spTree>
    <p:extLst>
      <p:ext uri="{BB962C8B-B14F-4D97-AF65-F5344CB8AC3E}">
        <p14:creationId xmlns:p14="http://schemas.microsoft.com/office/powerpoint/2010/main" val="2836534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1828</TotalTime>
  <Words>1510</Words>
  <Application>Microsoft Office PowerPoint</Application>
  <PresentationFormat>Widescreen</PresentationFormat>
  <Paragraphs>159</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ui-sans-serif</vt:lpstr>
      <vt:lpstr>Arial</vt:lpstr>
      <vt:lpstr>Calibri</vt:lpstr>
      <vt:lpstr>Calibri Light</vt:lpstr>
      <vt:lpstr>Office Theme</vt:lpstr>
      <vt:lpstr>Developing a Machine Learning Pipeline for Predicting IBD Types Using Metabolomics Data</vt:lpstr>
      <vt:lpstr>Methods – Explanatory data analysis</vt:lpstr>
      <vt:lpstr>Methods – Pipeline </vt:lpstr>
      <vt:lpstr>Results – Visualisation</vt:lpstr>
      <vt:lpstr>Results – XGBoost</vt:lpstr>
      <vt:lpstr>Discussion</vt:lpstr>
      <vt:lpstr>Future work and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Posma, Joram Matthias</dc:creator>
  <cp:lastModifiedBy>An, Yena</cp:lastModifiedBy>
  <cp:revision>25</cp:revision>
  <dcterms:created xsi:type="dcterms:W3CDTF">2022-02-28T10:42:10Z</dcterms:created>
  <dcterms:modified xsi:type="dcterms:W3CDTF">2024-05-29T14:34:59Z</dcterms:modified>
</cp:coreProperties>
</file>